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772400" cy="100584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4242"/>
    <a:srgbClr val="CD6565"/>
    <a:srgbClr val="003E6B"/>
    <a:srgbClr val="FF6A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6" autoAdjust="0"/>
    <p:restoredTop sz="96412" autoAdjust="0"/>
  </p:normalViewPr>
  <p:slideViewPr>
    <p:cSldViewPr snapToGrid="0">
      <p:cViewPr varScale="1">
        <p:scale>
          <a:sx n="78" d="100"/>
          <a:sy n="78" d="100"/>
        </p:scale>
        <p:origin x="27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912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01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96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51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58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9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20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28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9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18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92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7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8E1812-33BA-40B4-9087-222DEC822C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959"/>
            <a:ext cx="7772401" cy="75295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28D2B16-66A1-4B96-BF3A-902A1D3E7632}"/>
              </a:ext>
            </a:extLst>
          </p:cNvPr>
          <p:cNvSpPr/>
          <p:nvPr/>
        </p:nvSpPr>
        <p:spPr>
          <a:xfrm>
            <a:off x="187551" y="926373"/>
            <a:ext cx="3629277" cy="1680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BD49A6E-8118-4177-A754-48CAA8F000B1}"/>
              </a:ext>
            </a:extLst>
          </p:cNvPr>
          <p:cNvSpPr/>
          <p:nvPr/>
        </p:nvSpPr>
        <p:spPr>
          <a:xfrm>
            <a:off x="0" y="9459455"/>
            <a:ext cx="7772401" cy="598945"/>
          </a:xfrm>
          <a:prstGeom prst="rect">
            <a:avLst/>
          </a:prstGeom>
          <a:solidFill>
            <a:srgbClr val="3539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9FBA2A-A4DA-45DE-824D-C8A4E3DA7FD4}"/>
              </a:ext>
            </a:extLst>
          </p:cNvPr>
          <p:cNvSpPr txBox="1"/>
          <p:nvPr/>
        </p:nvSpPr>
        <p:spPr>
          <a:xfrm>
            <a:off x="304797" y="9510402"/>
            <a:ext cx="725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F6F6E6"/>
                </a:solidFill>
                <a:latin typeface="Lato" panose="020F050202020403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Electricity and Magnetism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B28B72-A2C5-4C2B-AC7F-1587274AAF8B}"/>
              </a:ext>
            </a:extLst>
          </p:cNvPr>
          <p:cNvSpPr txBox="1"/>
          <p:nvPr/>
        </p:nvSpPr>
        <p:spPr>
          <a:xfrm>
            <a:off x="833522" y="288667"/>
            <a:ext cx="725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6F6E6"/>
                </a:solidFill>
                <a:latin typeface="Lato" panose="020F050202020403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Light – Ray Optics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8A84BC-4389-4375-9601-0B97CCF476AC}"/>
              </a:ext>
            </a:extLst>
          </p:cNvPr>
          <p:cNvSpPr txBox="1"/>
          <p:nvPr/>
        </p:nvSpPr>
        <p:spPr>
          <a:xfrm>
            <a:off x="0" y="45857"/>
            <a:ext cx="912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E2E6EE"/>
                </a:solidFill>
                <a:latin typeface="Lato" panose="020F050202020403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11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643169C-21EA-48F4-A75F-ED7EDE07C655}"/>
              </a:ext>
            </a:extLst>
          </p:cNvPr>
          <p:cNvSpPr txBox="1"/>
          <p:nvPr/>
        </p:nvSpPr>
        <p:spPr>
          <a:xfrm flipH="1">
            <a:off x="194978" y="926651"/>
            <a:ext cx="2474416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Ray Model of Light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Light travels along straight lines at speed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/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where n is the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index of refraction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  The light continues forever unless it interacts with matter; two common ways to interact are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reflection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and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refraction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 object is a source of light rays.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D090E51-4B6C-42B0-9666-A5815CB73AF2}"/>
              </a:ext>
            </a:extLst>
          </p:cNvPr>
          <p:cNvGrpSpPr/>
          <p:nvPr/>
        </p:nvGrpSpPr>
        <p:grpSpPr>
          <a:xfrm>
            <a:off x="2560314" y="1256035"/>
            <a:ext cx="1179836" cy="914406"/>
            <a:chOff x="4306564" y="1183243"/>
            <a:chExt cx="1179836" cy="91440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10F5098-70A3-4758-86A6-54D09BE2032D}"/>
                </a:ext>
              </a:extLst>
            </p:cNvPr>
            <p:cNvSpPr/>
            <p:nvPr/>
          </p:nvSpPr>
          <p:spPr>
            <a:xfrm>
              <a:off x="4946650" y="1225551"/>
              <a:ext cx="539750" cy="87209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488407B-7E58-4DB4-A7B7-F94E6C399029}"/>
                </a:ext>
              </a:extLst>
            </p:cNvPr>
            <p:cNvCxnSpPr>
              <a:cxnSpLocks/>
            </p:cNvCxnSpPr>
            <p:nvPr/>
          </p:nvCxnSpPr>
          <p:spPr>
            <a:xfrm>
              <a:off x="4406895" y="1377950"/>
              <a:ext cx="539750" cy="88900"/>
            </a:xfrm>
            <a:prstGeom prst="line">
              <a:avLst/>
            </a:prstGeom>
            <a:ln w="952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8405EA4-FFC3-492D-81BC-4A31A4A3DD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6895" y="1466850"/>
              <a:ext cx="539750" cy="120650"/>
            </a:xfrm>
            <a:prstGeom prst="line">
              <a:avLst/>
            </a:prstGeom>
            <a:ln w="952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A4209B9-2076-415A-918D-EE73D90A73C4}"/>
                </a:ext>
              </a:extLst>
            </p:cNvPr>
            <p:cNvCxnSpPr>
              <a:cxnSpLocks/>
            </p:cNvCxnSpPr>
            <p:nvPr/>
          </p:nvCxnSpPr>
          <p:spPr>
            <a:xfrm>
              <a:off x="4465722" y="1837850"/>
              <a:ext cx="487273" cy="32225"/>
            </a:xfrm>
            <a:prstGeom prst="line">
              <a:avLst/>
            </a:prstGeom>
            <a:ln w="952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1D865104-5FEB-494A-BBC3-0CBDB0D3A8A5}"/>
                </a:ext>
              </a:extLst>
            </p:cNvPr>
            <p:cNvCxnSpPr>
              <a:cxnSpLocks/>
            </p:cNvCxnSpPr>
            <p:nvPr/>
          </p:nvCxnSpPr>
          <p:spPr>
            <a:xfrm>
              <a:off x="4946645" y="1870075"/>
              <a:ext cx="469905" cy="154543"/>
            </a:xfrm>
            <a:prstGeom prst="line">
              <a:avLst/>
            </a:prstGeom>
            <a:ln w="952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19D20B4-5B4E-40D8-B77F-CB7A3B892F16}"/>
                </a:ext>
              </a:extLst>
            </p:cNvPr>
            <p:cNvSpPr txBox="1"/>
            <p:nvPr/>
          </p:nvSpPr>
          <p:spPr>
            <a:xfrm>
              <a:off x="4709358" y="1183243"/>
              <a:ext cx="28725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</a:t>
              </a:r>
              <a:r>
                <a:rPr lang="en-US" sz="9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</a:t>
              </a:r>
              <a:endParaRPr lang="en-US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EB6E4864-4B67-49AD-8649-8EB5395C9D82}"/>
                </a:ext>
              </a:extLst>
            </p:cNvPr>
            <p:cNvSpPr txBox="1"/>
            <p:nvPr/>
          </p:nvSpPr>
          <p:spPr>
            <a:xfrm>
              <a:off x="4905868" y="1189593"/>
              <a:ext cx="28725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</a:t>
              </a:r>
              <a:r>
                <a:rPr lang="en-US" sz="9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2</a:t>
              </a:r>
              <a:endParaRPr lang="en-US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E2FD7969-1C0B-4CFD-9C7E-46BD122C56AC}"/>
                </a:ext>
              </a:extLst>
            </p:cNvPr>
            <p:cNvSpPr txBox="1"/>
            <p:nvPr/>
          </p:nvSpPr>
          <p:spPr>
            <a:xfrm>
              <a:off x="4306564" y="1578059"/>
              <a:ext cx="68961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Reflection</a:t>
              </a:r>
              <a:endParaRPr lang="en-US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9D0D80C4-D07D-4BCA-A4C6-D9318DB44B9F}"/>
                </a:ext>
              </a:extLst>
            </p:cNvPr>
            <p:cNvSpPr txBox="1"/>
            <p:nvPr/>
          </p:nvSpPr>
          <p:spPr>
            <a:xfrm>
              <a:off x="4307972" y="1866816"/>
              <a:ext cx="70884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Refraction</a:t>
              </a:r>
              <a:endParaRPr lang="en-US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sp>
        <p:nvSpPr>
          <p:cNvPr id="227" name="TextBox 226">
            <a:extLst>
              <a:ext uri="{FF2B5EF4-FFF2-40B4-BE49-F238E27FC236}">
                <a16:creationId xmlns:a16="http://schemas.microsoft.com/office/drawing/2014/main" id="{BB053F10-0A94-450B-9E51-6CB6A4382D8A}"/>
              </a:ext>
            </a:extLst>
          </p:cNvPr>
          <p:cNvSpPr txBox="1"/>
          <p:nvPr/>
        </p:nvSpPr>
        <p:spPr>
          <a:xfrm flipH="1">
            <a:off x="187550" y="2237170"/>
            <a:ext cx="3629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ray model is valid when lenses, mirrors, and apertures are larger than about 1 mm.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0AE183B-8C39-4BF6-97C4-264CE2631283}"/>
              </a:ext>
            </a:extLst>
          </p:cNvPr>
          <p:cNvSpPr/>
          <p:nvPr/>
        </p:nvSpPr>
        <p:spPr>
          <a:xfrm>
            <a:off x="187550" y="2734825"/>
            <a:ext cx="3629277" cy="84666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717C58F5-A0DA-4418-AF5B-1866DC394FFF}"/>
              </a:ext>
            </a:extLst>
          </p:cNvPr>
          <p:cNvSpPr txBox="1"/>
          <p:nvPr/>
        </p:nvSpPr>
        <p:spPr>
          <a:xfrm flipH="1">
            <a:off x="194977" y="2735102"/>
            <a:ext cx="2611939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Reflection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law of reflection states that the reflected angle is equal to the angle of incidence.  All angles are measured with respect to the normal.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32351A-CE4E-4B30-B791-98E069F074EC}"/>
              </a:ext>
            </a:extLst>
          </p:cNvPr>
          <p:cNvGrpSpPr/>
          <p:nvPr/>
        </p:nvGrpSpPr>
        <p:grpSpPr>
          <a:xfrm>
            <a:off x="2759395" y="3028517"/>
            <a:ext cx="1022350" cy="461517"/>
            <a:chOff x="5219700" y="3581488"/>
            <a:chExt cx="1022350" cy="461517"/>
          </a:xfrm>
        </p:grpSpPr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99D4EF60-A77E-436D-BD2C-91E243FECC32}"/>
                </a:ext>
              </a:extLst>
            </p:cNvPr>
            <p:cNvSpPr/>
            <p:nvPr/>
          </p:nvSpPr>
          <p:spPr>
            <a:xfrm>
              <a:off x="5219700" y="3963787"/>
              <a:ext cx="1022350" cy="7921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3C101C64-D846-487C-9186-BF7F779FD66B}"/>
                </a:ext>
              </a:extLst>
            </p:cNvPr>
            <p:cNvCxnSpPr>
              <a:cxnSpLocks/>
            </p:cNvCxnSpPr>
            <p:nvPr/>
          </p:nvCxnSpPr>
          <p:spPr>
            <a:xfrm>
              <a:off x="5401562" y="3727450"/>
              <a:ext cx="342900" cy="237768"/>
            </a:xfrm>
            <a:prstGeom prst="line">
              <a:avLst/>
            </a:prstGeom>
            <a:ln w="952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DF901281-1A88-4DA0-9EC7-263AA5A651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0875" y="3727450"/>
              <a:ext cx="342900" cy="237768"/>
            </a:xfrm>
            <a:prstGeom prst="line">
              <a:avLst/>
            </a:prstGeom>
            <a:ln w="9525">
              <a:solidFill>
                <a:schemeClr val="tx2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4C68C19-E4A9-41AE-B01E-FA4CE086C68B}"/>
                </a:ext>
              </a:extLst>
            </p:cNvPr>
            <p:cNvCxnSpPr>
              <a:cxnSpLocks/>
            </p:cNvCxnSpPr>
            <p:nvPr/>
          </p:nvCxnSpPr>
          <p:spPr>
            <a:xfrm>
              <a:off x="5738006" y="3581488"/>
              <a:ext cx="0" cy="38229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AD937C31-5E8F-4C12-A669-6D23CCEEE836}"/>
                </a:ext>
              </a:extLst>
            </p:cNvPr>
            <p:cNvSpPr txBox="1"/>
            <p:nvPr/>
          </p:nvSpPr>
          <p:spPr>
            <a:xfrm>
              <a:off x="5502276" y="3669229"/>
              <a:ext cx="2712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900" i="1" dirty="0">
                  <a:latin typeface="Cambria Math" panose="02040503050406030204" pitchFamily="18" charset="0"/>
                  <a:ea typeface="Cambria Math" panose="02040503050406030204" pitchFamily="18" charset="0"/>
                  <a:cs typeface="CMU Serif" panose="02000603000000000000" pitchFamily="2" charset="0"/>
                </a:rPr>
                <a:t>θ</a:t>
              </a:r>
              <a:r>
                <a:rPr lang="en-US" sz="900" i="1" baseline="-25000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i</a:t>
              </a:r>
              <a:endParaRPr lang="en-US" i="1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C1E095AA-2E48-4711-B299-72B1FFB93279}"/>
                </a:ext>
              </a:extLst>
            </p:cNvPr>
            <p:cNvSpPr txBox="1"/>
            <p:nvPr/>
          </p:nvSpPr>
          <p:spPr>
            <a:xfrm>
              <a:off x="5693817" y="3669202"/>
              <a:ext cx="27924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900" i="1" dirty="0">
                  <a:latin typeface="Cambria Math" panose="02040503050406030204" pitchFamily="18" charset="0"/>
                  <a:ea typeface="Cambria Math" panose="02040503050406030204" pitchFamily="18" charset="0"/>
                  <a:cs typeface="CMU Serif" panose="02000603000000000000" pitchFamily="2" charset="0"/>
                </a:rPr>
                <a:t>θ</a:t>
              </a:r>
              <a:r>
                <a:rPr lang="en-US" sz="900" i="1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</a:t>
              </a:r>
              <a:endParaRPr lang="en-US" i="1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sp>
        <p:nvSpPr>
          <p:cNvPr id="236" name="Rectangle 235">
            <a:extLst>
              <a:ext uri="{FF2B5EF4-FFF2-40B4-BE49-F238E27FC236}">
                <a16:creationId xmlns:a16="http://schemas.microsoft.com/office/drawing/2014/main" id="{2AE5DBF2-9049-4247-8A53-E2779B8D8E6C}"/>
              </a:ext>
            </a:extLst>
          </p:cNvPr>
          <p:cNvSpPr/>
          <p:nvPr/>
        </p:nvSpPr>
        <p:spPr>
          <a:xfrm>
            <a:off x="187549" y="3711239"/>
            <a:ext cx="3629277" cy="16278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7B2DD8C1-A0B4-4494-BD7A-B5C32237109D}"/>
              </a:ext>
            </a:extLst>
          </p:cNvPr>
          <p:cNvSpPr txBox="1"/>
          <p:nvPr/>
        </p:nvSpPr>
        <p:spPr>
          <a:xfrm flipH="1">
            <a:off x="194976" y="3711517"/>
            <a:ext cx="249940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Refraction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law of refraction states that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If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&lt;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total internal reflection (TIR) occurs when </a:t>
            </a:r>
            <a:r>
              <a:rPr lang="el-GR" sz="900" i="1" dirty="0">
                <a:latin typeface="Cambria Math" panose="02040503050406030204" pitchFamily="18" charset="0"/>
                <a:ea typeface="Cambria Math" panose="02040503050406030204" pitchFamily="18" charset="0"/>
                <a:cs typeface="CMU Serif" panose="02000603000000000000" pitchFamily="2" charset="0"/>
              </a:rPr>
              <a:t>θ 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greater than the critical angle, 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0F9F299-F2F3-42F3-AD42-D90079C9BDA4}"/>
              </a:ext>
            </a:extLst>
          </p:cNvPr>
          <p:cNvSpPr/>
          <p:nvPr/>
        </p:nvSpPr>
        <p:spPr>
          <a:xfrm>
            <a:off x="2759394" y="4387230"/>
            <a:ext cx="1022350" cy="3903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46E22382-451F-414A-9CE7-EAA7C76205F5}"/>
              </a:ext>
            </a:extLst>
          </p:cNvPr>
          <p:cNvCxnSpPr>
            <a:cxnSpLocks/>
          </p:cNvCxnSpPr>
          <p:nvPr/>
        </p:nvCxnSpPr>
        <p:spPr>
          <a:xfrm>
            <a:off x="2941256" y="4150894"/>
            <a:ext cx="342900" cy="237768"/>
          </a:xfrm>
          <a:prstGeom prst="line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DE42E08A-B6B2-4E5C-A1BF-EB9418423AE0}"/>
              </a:ext>
            </a:extLst>
          </p:cNvPr>
          <p:cNvCxnSpPr>
            <a:cxnSpLocks/>
          </p:cNvCxnSpPr>
          <p:nvPr/>
        </p:nvCxnSpPr>
        <p:spPr>
          <a:xfrm flipH="1" flipV="1">
            <a:off x="3270570" y="4388662"/>
            <a:ext cx="235631" cy="297563"/>
          </a:xfrm>
          <a:prstGeom prst="line">
            <a:avLst/>
          </a:prstGeom>
          <a:ln w="9525">
            <a:solidFill>
              <a:schemeClr val="tx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0F805245-86AF-4513-B37B-55B92C7D3B4C}"/>
              </a:ext>
            </a:extLst>
          </p:cNvPr>
          <p:cNvCxnSpPr>
            <a:cxnSpLocks/>
          </p:cNvCxnSpPr>
          <p:nvPr/>
        </p:nvCxnSpPr>
        <p:spPr>
          <a:xfrm>
            <a:off x="3270569" y="4012548"/>
            <a:ext cx="0" cy="67809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TextBox 269">
            <a:extLst>
              <a:ext uri="{FF2B5EF4-FFF2-40B4-BE49-F238E27FC236}">
                <a16:creationId xmlns:a16="http://schemas.microsoft.com/office/drawing/2014/main" id="{A8551F5E-B3CC-4371-8261-1C58D5E63BE2}"/>
              </a:ext>
            </a:extLst>
          </p:cNvPr>
          <p:cNvSpPr txBox="1"/>
          <p:nvPr/>
        </p:nvSpPr>
        <p:spPr>
          <a:xfrm>
            <a:off x="3048524" y="4062571"/>
            <a:ext cx="2872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900" i="1" dirty="0">
                <a:latin typeface="Cambria Math" panose="02040503050406030204" pitchFamily="18" charset="0"/>
                <a:ea typeface="Cambria Math" panose="02040503050406030204" pitchFamily="18" charset="0"/>
                <a:cs typeface="CMU Serif" panose="02000603000000000000" pitchFamily="2" charset="0"/>
              </a:rPr>
              <a:t>θ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  <a:endParaRPr lang="en-US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76CD9E40-8FEB-44AA-884A-980E726F28C2}"/>
              </a:ext>
            </a:extLst>
          </p:cNvPr>
          <p:cNvSpPr txBox="1"/>
          <p:nvPr/>
        </p:nvSpPr>
        <p:spPr>
          <a:xfrm>
            <a:off x="3206216" y="4479354"/>
            <a:ext cx="2872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900" i="1" dirty="0">
                <a:latin typeface="Cambria Math" panose="02040503050406030204" pitchFamily="18" charset="0"/>
                <a:ea typeface="Cambria Math" panose="02040503050406030204" pitchFamily="18" charset="0"/>
                <a:cs typeface="CMU Serif" panose="02000603000000000000" pitchFamily="2" charset="0"/>
              </a:rPr>
              <a:t>θ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endParaRPr lang="en-US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1E63331-A8DB-451B-B368-1F907531A4AB}"/>
              </a:ext>
            </a:extLst>
          </p:cNvPr>
          <p:cNvSpPr/>
          <p:nvPr/>
        </p:nvSpPr>
        <p:spPr>
          <a:xfrm>
            <a:off x="285006" y="4293403"/>
            <a:ext cx="2244660" cy="2616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6B4F6018-285D-40E4-A90A-3DCB92604C89}"/>
              </a:ext>
            </a:extLst>
          </p:cNvPr>
          <p:cNvSpPr txBox="1"/>
          <p:nvPr/>
        </p:nvSpPr>
        <p:spPr>
          <a:xfrm>
            <a:off x="2727821" y="4181971"/>
            <a:ext cx="2872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  <a:endParaRPr lang="en-US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A1DAFDA3-60CB-4F6F-8FBE-062DD581F456}"/>
              </a:ext>
            </a:extLst>
          </p:cNvPr>
          <p:cNvSpPr txBox="1"/>
          <p:nvPr/>
        </p:nvSpPr>
        <p:spPr>
          <a:xfrm>
            <a:off x="2724312" y="4325401"/>
            <a:ext cx="2872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endParaRPr lang="en-US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78" name="Picture 2" descr="https://latex.codecogs.com/png.latex?%5Cdpi%7B200%7D%20n_1%20%5Csin%20%5Ctheta_1%20%3D%20n_2%20%5Csin%20%5Ctheta_2">
            <a:extLst>
              <a:ext uri="{FF2B5EF4-FFF2-40B4-BE49-F238E27FC236}">
                <a16:creationId xmlns:a16="http://schemas.microsoft.com/office/drawing/2014/main" id="{28A41106-4F29-48F5-906D-ACE2AA016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669" y="4380090"/>
            <a:ext cx="883333" cy="9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6" descr="https://latex.codecogs.com/png.latex?%5Cdpi%7B200%7D%20%5Ctheta_c%20%3D%20%5Csin%20%5E%7B-1%7D%20%5Cleft%28%20%5Cfrac%7Bn_2%7D%7Bn_1%7D%20%5Cright%20%29.">
            <a:extLst>
              <a:ext uri="{FF2B5EF4-FFF2-40B4-BE49-F238E27FC236}">
                <a16:creationId xmlns:a16="http://schemas.microsoft.com/office/drawing/2014/main" id="{998235C2-370F-46DC-9BB9-C43671CA7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668" y="5024866"/>
            <a:ext cx="823333" cy="26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4" name="Rectangle 273">
            <a:extLst>
              <a:ext uri="{FF2B5EF4-FFF2-40B4-BE49-F238E27FC236}">
                <a16:creationId xmlns:a16="http://schemas.microsoft.com/office/drawing/2014/main" id="{B6C3DCA6-B78F-41BF-9432-55D95E70DF81}"/>
              </a:ext>
            </a:extLst>
          </p:cNvPr>
          <p:cNvSpPr/>
          <p:nvPr/>
        </p:nvSpPr>
        <p:spPr>
          <a:xfrm>
            <a:off x="187548" y="5463232"/>
            <a:ext cx="3629277" cy="38255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8FA9B918-33B5-4652-B95D-9BF6A554B9EC}"/>
              </a:ext>
            </a:extLst>
          </p:cNvPr>
          <p:cNvSpPr txBox="1"/>
          <p:nvPr/>
        </p:nvSpPr>
        <p:spPr>
          <a:xfrm flipH="1">
            <a:off x="187546" y="5458872"/>
            <a:ext cx="3629277" cy="2508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Plane Surfaces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Reflection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virtual image is formed at P’ with an image distance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’ equal to the object distance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Refraction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virtual image is formed at P’, where the image distance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s’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related to the object distance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by</a:t>
            </a:r>
          </a:p>
        </p:txBody>
      </p:sp>
      <p:pic>
        <p:nvPicPr>
          <p:cNvPr id="1032" name="Picture 8" descr="https://latex.codecogs.com/png.latex?%5Cdpi%7B200%7D%20s%27%20%3D%20-%5Cfrac%7Bn_2%7D%7Bn_1%7D%20s.">
            <a:extLst>
              <a:ext uri="{FF2B5EF4-FFF2-40B4-BE49-F238E27FC236}">
                <a16:creationId xmlns:a16="http://schemas.microsoft.com/office/drawing/2014/main" id="{5EA9E243-F5F8-4A3A-A7E5-26306528B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1417" y="7976034"/>
            <a:ext cx="510000" cy="21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57DA9B8-57FB-4370-BDB7-28086DDAF172}"/>
              </a:ext>
            </a:extLst>
          </p:cNvPr>
          <p:cNvGrpSpPr/>
          <p:nvPr/>
        </p:nvGrpSpPr>
        <p:grpSpPr>
          <a:xfrm>
            <a:off x="1299156" y="6384529"/>
            <a:ext cx="1039690" cy="914336"/>
            <a:chOff x="4075843" y="5670933"/>
            <a:chExt cx="1039690" cy="914336"/>
          </a:xfrm>
        </p:grpSpPr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9D42147B-F2D4-4235-BE37-714480645D7F}"/>
                </a:ext>
              </a:extLst>
            </p:cNvPr>
            <p:cNvCxnSpPr>
              <a:cxnSpLocks/>
            </p:cNvCxnSpPr>
            <p:nvPr/>
          </p:nvCxnSpPr>
          <p:spPr>
            <a:xfrm>
              <a:off x="4244686" y="5914095"/>
              <a:ext cx="308218" cy="119932"/>
            </a:xfrm>
            <a:prstGeom prst="line">
              <a:avLst/>
            </a:prstGeom>
            <a:ln w="952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C141FD2A-A8AD-4662-9670-DED86134F2F3}"/>
                </a:ext>
              </a:extLst>
            </p:cNvPr>
            <p:cNvCxnSpPr>
              <a:cxnSpLocks/>
            </p:cNvCxnSpPr>
            <p:nvPr/>
          </p:nvCxnSpPr>
          <p:spPr>
            <a:xfrm>
              <a:off x="4244686" y="5913047"/>
              <a:ext cx="308218" cy="205564"/>
            </a:xfrm>
            <a:prstGeom prst="line">
              <a:avLst/>
            </a:prstGeom>
            <a:ln w="952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0178005C-5F67-4DE4-ABD0-C4C4D05C0301}"/>
                </a:ext>
              </a:extLst>
            </p:cNvPr>
            <p:cNvCxnSpPr>
              <a:cxnSpLocks/>
            </p:cNvCxnSpPr>
            <p:nvPr/>
          </p:nvCxnSpPr>
          <p:spPr>
            <a:xfrm>
              <a:off x="4244686" y="5916529"/>
              <a:ext cx="308218" cy="288171"/>
            </a:xfrm>
            <a:prstGeom prst="line">
              <a:avLst/>
            </a:prstGeom>
            <a:ln w="952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F6A39D13-66CB-4AB7-A06E-F86934BC2D82}"/>
                </a:ext>
              </a:extLst>
            </p:cNvPr>
            <p:cNvSpPr/>
            <p:nvPr/>
          </p:nvSpPr>
          <p:spPr>
            <a:xfrm flipH="1">
              <a:off x="4551623" y="5759192"/>
              <a:ext cx="45719" cy="82607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1382006B-4C73-4A43-9997-7DBE719473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07729" y="6034027"/>
              <a:ext cx="343336" cy="138204"/>
            </a:xfrm>
            <a:prstGeom prst="line">
              <a:avLst/>
            </a:prstGeom>
            <a:ln w="952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5051DF73-5C5C-4DFB-9DC1-D2395773B8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4686" y="6110262"/>
              <a:ext cx="306380" cy="179022"/>
            </a:xfrm>
            <a:prstGeom prst="line">
              <a:avLst/>
            </a:prstGeom>
            <a:ln w="952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D7CA4256-21AC-42A0-88DA-8D906B7F00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8104" y="6202809"/>
              <a:ext cx="282961" cy="287532"/>
            </a:xfrm>
            <a:prstGeom prst="line">
              <a:avLst/>
            </a:prstGeom>
            <a:ln w="952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4CF211C0-585D-46F9-9F82-0CA7168E09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1066" y="5889213"/>
              <a:ext cx="343335" cy="314848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1355B871-4334-490E-9442-DB5990CCE9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1065" y="5892341"/>
              <a:ext cx="343336" cy="221205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6FC58ECB-8DCE-46BA-9363-374C354B14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1065" y="5894082"/>
              <a:ext cx="343336" cy="138204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4E40E30E-5181-4299-BDC8-243CA18B9B4E}"/>
                </a:ext>
              </a:extLst>
            </p:cNvPr>
            <p:cNvSpPr txBox="1"/>
            <p:nvPr/>
          </p:nvSpPr>
          <p:spPr>
            <a:xfrm>
              <a:off x="4075843" y="5888901"/>
              <a:ext cx="26321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P</a:t>
              </a:r>
              <a:endParaRPr lang="en-US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96A19EBE-91CB-4C83-A58E-0E3668C69A4E}"/>
                </a:ext>
              </a:extLst>
            </p:cNvPr>
            <p:cNvSpPr txBox="1"/>
            <p:nvPr/>
          </p:nvSpPr>
          <p:spPr>
            <a:xfrm>
              <a:off x="4810641" y="5858645"/>
              <a:ext cx="30489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P’</a:t>
              </a:r>
              <a:endParaRPr lang="en-US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624CA413-4F9C-4728-9894-9CFF68339931}"/>
                </a:ext>
              </a:extLst>
            </p:cNvPr>
            <p:cNvCxnSpPr>
              <a:cxnSpLocks/>
            </p:cNvCxnSpPr>
            <p:nvPr/>
          </p:nvCxnSpPr>
          <p:spPr>
            <a:xfrm>
              <a:off x="4244686" y="5855755"/>
              <a:ext cx="30329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Arrow Connector 292">
              <a:extLst>
                <a:ext uri="{FF2B5EF4-FFF2-40B4-BE49-F238E27FC236}">
                  <a16:creationId xmlns:a16="http://schemas.microsoft.com/office/drawing/2014/main" id="{C219B290-E888-49EE-B957-50E9962A8304}"/>
                </a:ext>
              </a:extLst>
            </p:cNvPr>
            <p:cNvCxnSpPr>
              <a:cxnSpLocks/>
            </p:cNvCxnSpPr>
            <p:nvPr/>
          </p:nvCxnSpPr>
          <p:spPr>
            <a:xfrm>
              <a:off x="4597342" y="5855755"/>
              <a:ext cx="30329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B7436D29-9A15-4BA1-A2CC-7364283562BD}"/>
                </a:ext>
              </a:extLst>
            </p:cNvPr>
            <p:cNvSpPr txBox="1"/>
            <p:nvPr/>
          </p:nvSpPr>
          <p:spPr>
            <a:xfrm>
              <a:off x="4281560" y="5671207"/>
              <a:ext cx="22955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</a:t>
              </a:r>
              <a:endParaRPr lang="en-US" i="1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E810DC17-943D-4BB7-92CC-65192CF3E75C}"/>
                </a:ext>
              </a:extLst>
            </p:cNvPr>
            <p:cNvSpPr txBox="1"/>
            <p:nvPr/>
          </p:nvSpPr>
          <p:spPr>
            <a:xfrm>
              <a:off x="4609634" y="5670933"/>
              <a:ext cx="2664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s’</a:t>
              </a:r>
              <a:endParaRPr lang="en-US" i="1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sp>
        <p:nvSpPr>
          <p:cNvPr id="128" name="Oval 127">
            <a:extLst>
              <a:ext uri="{FF2B5EF4-FFF2-40B4-BE49-F238E27FC236}">
                <a16:creationId xmlns:a16="http://schemas.microsoft.com/office/drawing/2014/main" id="{883B808E-1555-4D7B-BE8E-F8F535CDAB66}"/>
              </a:ext>
            </a:extLst>
          </p:cNvPr>
          <p:cNvSpPr/>
          <p:nvPr/>
        </p:nvSpPr>
        <p:spPr>
          <a:xfrm>
            <a:off x="1438994" y="6601604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EED60A80-74AB-4AEE-830C-1F3ACEE97913}"/>
              </a:ext>
            </a:extLst>
          </p:cNvPr>
          <p:cNvSpPr/>
          <p:nvPr/>
        </p:nvSpPr>
        <p:spPr>
          <a:xfrm>
            <a:off x="2111951" y="6576078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CD173F76-D71A-4810-91BC-2D35DAD07553}"/>
              </a:ext>
            </a:extLst>
          </p:cNvPr>
          <p:cNvSpPr txBox="1"/>
          <p:nvPr/>
        </p:nvSpPr>
        <p:spPr>
          <a:xfrm>
            <a:off x="737346" y="6574937"/>
            <a:ext cx="5212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Object</a:t>
            </a:r>
            <a:endParaRPr lang="en-US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3B3A1BC1-542E-4BDB-AC58-30D1087F7EB9}"/>
              </a:ext>
            </a:extLst>
          </p:cNvPr>
          <p:cNvSpPr txBox="1"/>
          <p:nvPr/>
        </p:nvSpPr>
        <p:spPr>
          <a:xfrm>
            <a:off x="2386209" y="6531907"/>
            <a:ext cx="4876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Image</a:t>
            </a:r>
            <a:endParaRPr lang="en-US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3EDE8827-9A7D-4DDC-AA20-D545FA87E6E5}"/>
              </a:ext>
            </a:extLst>
          </p:cNvPr>
          <p:cNvSpPr/>
          <p:nvPr/>
        </p:nvSpPr>
        <p:spPr>
          <a:xfrm>
            <a:off x="1062567" y="6552830"/>
            <a:ext cx="364066" cy="63870"/>
          </a:xfrm>
          <a:custGeom>
            <a:avLst/>
            <a:gdLst>
              <a:gd name="connsiteX0" fmla="*/ 0 w 364066"/>
              <a:gd name="connsiteY0" fmla="*/ 63870 h 63870"/>
              <a:gd name="connsiteX1" fmla="*/ 38100 w 364066"/>
              <a:gd name="connsiteY1" fmla="*/ 30003 h 63870"/>
              <a:gd name="connsiteX2" fmla="*/ 169333 w 364066"/>
              <a:gd name="connsiteY2" fmla="*/ 370 h 63870"/>
              <a:gd name="connsiteX3" fmla="*/ 364066 w 364066"/>
              <a:gd name="connsiteY3" fmla="*/ 51170 h 6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066" h="63870">
                <a:moveTo>
                  <a:pt x="0" y="63870"/>
                </a:moveTo>
                <a:cubicBezTo>
                  <a:pt x="4939" y="52228"/>
                  <a:pt x="9878" y="40586"/>
                  <a:pt x="38100" y="30003"/>
                </a:cubicBezTo>
                <a:cubicBezTo>
                  <a:pt x="66322" y="19420"/>
                  <a:pt x="115005" y="-3158"/>
                  <a:pt x="169333" y="370"/>
                </a:cubicBezTo>
                <a:cubicBezTo>
                  <a:pt x="223661" y="3898"/>
                  <a:pt x="293863" y="27534"/>
                  <a:pt x="364066" y="51170"/>
                </a:cubicBezTo>
              </a:path>
            </a:pathLst>
          </a:custGeom>
          <a:noFill/>
          <a:ln w="635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Freeform: Shape 298">
            <a:extLst>
              <a:ext uri="{FF2B5EF4-FFF2-40B4-BE49-F238E27FC236}">
                <a16:creationId xmlns:a16="http://schemas.microsoft.com/office/drawing/2014/main" id="{27B0BDA4-2641-48F8-90B1-05BBCA404101}"/>
              </a:ext>
            </a:extLst>
          </p:cNvPr>
          <p:cNvSpPr/>
          <p:nvPr/>
        </p:nvSpPr>
        <p:spPr>
          <a:xfrm flipH="1">
            <a:off x="2178516" y="6520895"/>
            <a:ext cx="364066" cy="63870"/>
          </a:xfrm>
          <a:custGeom>
            <a:avLst/>
            <a:gdLst>
              <a:gd name="connsiteX0" fmla="*/ 0 w 364066"/>
              <a:gd name="connsiteY0" fmla="*/ 63870 h 63870"/>
              <a:gd name="connsiteX1" fmla="*/ 38100 w 364066"/>
              <a:gd name="connsiteY1" fmla="*/ 30003 h 63870"/>
              <a:gd name="connsiteX2" fmla="*/ 169333 w 364066"/>
              <a:gd name="connsiteY2" fmla="*/ 370 h 63870"/>
              <a:gd name="connsiteX3" fmla="*/ 364066 w 364066"/>
              <a:gd name="connsiteY3" fmla="*/ 51170 h 6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066" h="63870">
                <a:moveTo>
                  <a:pt x="0" y="63870"/>
                </a:moveTo>
                <a:cubicBezTo>
                  <a:pt x="4939" y="52228"/>
                  <a:pt x="9878" y="40586"/>
                  <a:pt x="38100" y="30003"/>
                </a:cubicBezTo>
                <a:cubicBezTo>
                  <a:pt x="66322" y="19420"/>
                  <a:pt x="115005" y="-3158"/>
                  <a:pt x="169333" y="370"/>
                </a:cubicBezTo>
                <a:cubicBezTo>
                  <a:pt x="223661" y="3898"/>
                  <a:pt x="293863" y="27534"/>
                  <a:pt x="364066" y="51170"/>
                </a:cubicBezTo>
              </a:path>
            </a:pathLst>
          </a:custGeom>
          <a:noFill/>
          <a:ln w="635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4AFCC78B-46FC-47D0-8688-2BCB02BDB358}"/>
              </a:ext>
            </a:extLst>
          </p:cNvPr>
          <p:cNvGrpSpPr/>
          <p:nvPr/>
        </p:nvGrpSpPr>
        <p:grpSpPr>
          <a:xfrm>
            <a:off x="832378" y="8277661"/>
            <a:ext cx="1804090" cy="1023156"/>
            <a:chOff x="777859" y="8324153"/>
            <a:chExt cx="1804090" cy="1023156"/>
          </a:xfrm>
        </p:grpSpPr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0C9F09C8-07D4-4E53-BD47-61565C5E32C7}"/>
                </a:ext>
              </a:extLst>
            </p:cNvPr>
            <p:cNvSpPr/>
            <p:nvPr/>
          </p:nvSpPr>
          <p:spPr>
            <a:xfrm flipH="1">
              <a:off x="1366299" y="8388463"/>
              <a:ext cx="635118" cy="74219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72079548-7EC1-46AD-87BE-D771E79E208E}"/>
                </a:ext>
              </a:extLst>
            </p:cNvPr>
            <p:cNvSpPr/>
            <p:nvPr/>
          </p:nvSpPr>
          <p:spPr>
            <a:xfrm>
              <a:off x="1479507" y="8745403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5CAC034C-70C0-4949-BDC7-51811375EA8F}"/>
                </a:ext>
              </a:extLst>
            </p:cNvPr>
            <p:cNvSpPr txBox="1"/>
            <p:nvPr/>
          </p:nvSpPr>
          <p:spPr>
            <a:xfrm>
              <a:off x="777859" y="8718736"/>
              <a:ext cx="5212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Object</a:t>
              </a:r>
              <a:endPara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7A01E91-8850-4A4F-B8D3-7FCC4BC1382B}"/>
                </a:ext>
              </a:extLst>
            </p:cNvPr>
            <p:cNvSpPr/>
            <p:nvPr/>
          </p:nvSpPr>
          <p:spPr>
            <a:xfrm>
              <a:off x="1103080" y="8696629"/>
              <a:ext cx="364066" cy="63870"/>
            </a:xfrm>
            <a:custGeom>
              <a:avLst/>
              <a:gdLst>
                <a:gd name="connsiteX0" fmla="*/ 0 w 364066"/>
                <a:gd name="connsiteY0" fmla="*/ 63870 h 63870"/>
                <a:gd name="connsiteX1" fmla="*/ 38100 w 364066"/>
                <a:gd name="connsiteY1" fmla="*/ 30003 h 63870"/>
                <a:gd name="connsiteX2" fmla="*/ 169333 w 364066"/>
                <a:gd name="connsiteY2" fmla="*/ 370 h 63870"/>
                <a:gd name="connsiteX3" fmla="*/ 364066 w 364066"/>
                <a:gd name="connsiteY3" fmla="*/ 51170 h 63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066" h="63870">
                  <a:moveTo>
                    <a:pt x="0" y="63870"/>
                  </a:moveTo>
                  <a:cubicBezTo>
                    <a:pt x="4939" y="52228"/>
                    <a:pt x="9878" y="40586"/>
                    <a:pt x="38100" y="30003"/>
                  </a:cubicBezTo>
                  <a:cubicBezTo>
                    <a:pt x="66322" y="19420"/>
                    <a:pt x="115005" y="-3158"/>
                    <a:pt x="169333" y="370"/>
                  </a:cubicBezTo>
                  <a:cubicBezTo>
                    <a:pt x="223661" y="3898"/>
                    <a:pt x="293863" y="27534"/>
                    <a:pt x="364066" y="51170"/>
                  </a:cubicBezTo>
                </a:path>
              </a:pathLst>
            </a:custGeom>
            <a:noFill/>
            <a:ln w="6350">
              <a:solidFill>
                <a:schemeClr val="accent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B6D12DF8-06F5-41B8-97FD-742EE6D9041A}"/>
                </a:ext>
              </a:extLst>
            </p:cNvPr>
            <p:cNvCxnSpPr>
              <a:cxnSpLocks/>
            </p:cNvCxnSpPr>
            <p:nvPr/>
          </p:nvCxnSpPr>
          <p:spPr>
            <a:xfrm>
              <a:off x="1510783" y="8771951"/>
              <a:ext cx="490634" cy="177617"/>
            </a:xfrm>
            <a:prstGeom prst="line">
              <a:avLst/>
            </a:prstGeom>
            <a:ln w="952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A039485A-1A07-4A55-A5AE-7BBD29D1F7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0783" y="8590645"/>
              <a:ext cx="490634" cy="177617"/>
            </a:xfrm>
            <a:prstGeom prst="line">
              <a:avLst/>
            </a:prstGeom>
            <a:ln w="952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563EE04A-CFF4-4D62-8A87-78FD382ECD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1417" y="8397738"/>
              <a:ext cx="177099" cy="190728"/>
            </a:xfrm>
            <a:prstGeom prst="line">
              <a:avLst/>
            </a:prstGeom>
            <a:ln w="952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286C9E1B-462D-49BC-88DD-C66529C6B5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1417" y="8945368"/>
              <a:ext cx="177099" cy="190728"/>
            </a:xfrm>
            <a:prstGeom prst="line">
              <a:avLst/>
            </a:prstGeom>
            <a:ln w="952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9A9FAC70-025A-4A98-8A91-D360558330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2411" y="8584089"/>
              <a:ext cx="177099" cy="190728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FB96BD0B-1C22-41E0-85B0-9F8B89F262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34633" y="8762596"/>
              <a:ext cx="177099" cy="190728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1CEC936C-838A-4AD8-B11D-D0572C4EE441}"/>
                </a:ext>
              </a:extLst>
            </p:cNvPr>
            <p:cNvSpPr/>
            <p:nvPr/>
          </p:nvSpPr>
          <p:spPr>
            <a:xfrm>
              <a:off x="1813598" y="8749405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47E78284-7E18-4F3D-8434-B86136A82F3F}"/>
                </a:ext>
              </a:extLst>
            </p:cNvPr>
            <p:cNvSpPr txBox="1"/>
            <p:nvPr/>
          </p:nvSpPr>
          <p:spPr>
            <a:xfrm>
              <a:off x="1348001" y="8786259"/>
              <a:ext cx="26321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P</a:t>
              </a:r>
              <a:endParaRPr lang="en-US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7A0F2A09-42F1-4F86-ADB0-A0EB81161F3F}"/>
                </a:ext>
              </a:extLst>
            </p:cNvPr>
            <p:cNvSpPr txBox="1"/>
            <p:nvPr/>
          </p:nvSpPr>
          <p:spPr>
            <a:xfrm>
              <a:off x="1717450" y="8492043"/>
              <a:ext cx="30489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P’</a:t>
              </a:r>
              <a:endParaRPr lang="en-US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55B955BC-7FA3-4F6E-9222-6BD43744788F}"/>
                </a:ext>
              </a:extLst>
            </p:cNvPr>
            <p:cNvSpPr txBox="1"/>
            <p:nvPr/>
          </p:nvSpPr>
          <p:spPr>
            <a:xfrm>
              <a:off x="1640346" y="9116477"/>
              <a:ext cx="22955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</a:t>
              </a:r>
              <a:endParaRPr lang="en-US" i="1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cxnSp>
          <p:nvCxnSpPr>
            <p:cNvPr id="316" name="Straight Arrow Connector 315">
              <a:extLst>
                <a:ext uri="{FF2B5EF4-FFF2-40B4-BE49-F238E27FC236}">
                  <a16:creationId xmlns:a16="http://schemas.microsoft.com/office/drawing/2014/main" id="{44D8AAE6-F7EE-4B1D-903D-3514742AC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0946" y="9168657"/>
              <a:ext cx="500471" cy="345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Arrow Connector 316">
              <a:extLst>
                <a:ext uri="{FF2B5EF4-FFF2-40B4-BE49-F238E27FC236}">
                  <a16:creationId xmlns:a16="http://schemas.microsoft.com/office/drawing/2014/main" id="{B90C0AFB-0824-43EA-8AD0-8B38AE40B55A}"/>
                </a:ext>
              </a:extLst>
            </p:cNvPr>
            <p:cNvCxnSpPr>
              <a:cxnSpLocks/>
            </p:cNvCxnSpPr>
            <p:nvPr/>
          </p:nvCxnSpPr>
          <p:spPr>
            <a:xfrm>
              <a:off x="1826040" y="9080588"/>
              <a:ext cx="1753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8D23AF8F-928F-4507-9C1B-F841445C8C4E}"/>
                </a:ext>
              </a:extLst>
            </p:cNvPr>
            <p:cNvSpPr txBox="1"/>
            <p:nvPr/>
          </p:nvSpPr>
          <p:spPr>
            <a:xfrm>
              <a:off x="1799795" y="8899830"/>
              <a:ext cx="2664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s’</a:t>
              </a:r>
              <a:endParaRPr lang="en-US" i="1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C777462E-FCD2-47D1-B0BB-4BCDBA48276D}"/>
                </a:ext>
              </a:extLst>
            </p:cNvPr>
            <p:cNvSpPr txBox="1"/>
            <p:nvPr/>
          </p:nvSpPr>
          <p:spPr>
            <a:xfrm>
              <a:off x="1778957" y="8324685"/>
              <a:ext cx="28725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</a:t>
              </a:r>
              <a:r>
                <a:rPr lang="en-US" sz="9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</a:t>
              </a:r>
              <a:endParaRPr lang="en-US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7F1895E6-E866-430C-A9E5-C2F2278257A2}"/>
                </a:ext>
              </a:extLst>
            </p:cNvPr>
            <p:cNvSpPr txBox="1"/>
            <p:nvPr/>
          </p:nvSpPr>
          <p:spPr>
            <a:xfrm>
              <a:off x="2175225" y="8324153"/>
              <a:ext cx="28725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</a:t>
              </a:r>
              <a:r>
                <a:rPr lang="en-US" sz="9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2</a:t>
              </a:r>
              <a:endParaRPr lang="en-US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6401244E-3FDD-4E90-A228-3CEC9CC082B5}"/>
                </a:ext>
              </a:extLst>
            </p:cNvPr>
            <p:cNvSpPr txBox="1"/>
            <p:nvPr/>
          </p:nvSpPr>
          <p:spPr>
            <a:xfrm>
              <a:off x="2094315" y="8724633"/>
              <a:ext cx="48763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Image</a:t>
              </a:r>
              <a:endPara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84A40384-F684-4427-BCD2-FA48279C8FD4}"/>
                </a:ext>
              </a:extLst>
            </p:cNvPr>
            <p:cNvSpPr/>
            <p:nvPr/>
          </p:nvSpPr>
          <p:spPr>
            <a:xfrm flipH="1">
              <a:off x="1886622" y="8713621"/>
              <a:ext cx="364066" cy="63870"/>
            </a:xfrm>
            <a:custGeom>
              <a:avLst/>
              <a:gdLst>
                <a:gd name="connsiteX0" fmla="*/ 0 w 364066"/>
                <a:gd name="connsiteY0" fmla="*/ 63870 h 63870"/>
                <a:gd name="connsiteX1" fmla="*/ 38100 w 364066"/>
                <a:gd name="connsiteY1" fmla="*/ 30003 h 63870"/>
                <a:gd name="connsiteX2" fmla="*/ 169333 w 364066"/>
                <a:gd name="connsiteY2" fmla="*/ 370 h 63870"/>
                <a:gd name="connsiteX3" fmla="*/ 364066 w 364066"/>
                <a:gd name="connsiteY3" fmla="*/ 51170 h 63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066" h="63870">
                  <a:moveTo>
                    <a:pt x="0" y="63870"/>
                  </a:moveTo>
                  <a:cubicBezTo>
                    <a:pt x="4939" y="52228"/>
                    <a:pt x="9878" y="40586"/>
                    <a:pt x="38100" y="30003"/>
                  </a:cubicBezTo>
                  <a:cubicBezTo>
                    <a:pt x="66322" y="19420"/>
                    <a:pt x="115005" y="-3158"/>
                    <a:pt x="169333" y="370"/>
                  </a:cubicBezTo>
                  <a:cubicBezTo>
                    <a:pt x="223661" y="3898"/>
                    <a:pt x="293863" y="27534"/>
                    <a:pt x="364066" y="51170"/>
                  </a:cubicBezTo>
                </a:path>
              </a:pathLst>
            </a:custGeom>
            <a:noFill/>
            <a:ln w="6350">
              <a:solidFill>
                <a:schemeClr val="accent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3" name="Rectangle 322">
            <a:extLst>
              <a:ext uri="{FF2B5EF4-FFF2-40B4-BE49-F238E27FC236}">
                <a16:creationId xmlns:a16="http://schemas.microsoft.com/office/drawing/2014/main" id="{EBDCB640-D13C-4859-99B3-0A3DA1D32DC2}"/>
              </a:ext>
            </a:extLst>
          </p:cNvPr>
          <p:cNvSpPr/>
          <p:nvPr/>
        </p:nvSpPr>
        <p:spPr>
          <a:xfrm>
            <a:off x="3951169" y="926518"/>
            <a:ext cx="3629277" cy="836226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6B1475EA-6FDB-4D20-B00C-FD61F6059B61}"/>
              </a:ext>
            </a:extLst>
          </p:cNvPr>
          <p:cNvSpPr txBox="1"/>
          <p:nvPr/>
        </p:nvSpPr>
        <p:spPr>
          <a:xfrm flipH="1">
            <a:off x="3951167" y="922159"/>
            <a:ext cx="3629277" cy="361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Spherical Surfaces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Spherical Mirrors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spherical mirror can form a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real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or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virtual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image with location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’ given by the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mirror equation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where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 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=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/2 is the focal length and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the radius of curvature.  The lateral magnification is given by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Sign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conventions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: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and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are positive for a concave mirror. 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s' 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is positive for a real image.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                Concave mirror                 Convex mirror</a:t>
            </a: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E99A46C4-AB0D-4A7C-AF24-7A221C36E01F}"/>
              </a:ext>
            </a:extLst>
          </p:cNvPr>
          <p:cNvSpPr/>
          <p:nvPr/>
        </p:nvSpPr>
        <p:spPr>
          <a:xfrm>
            <a:off x="4022277" y="1904687"/>
            <a:ext cx="3482703" cy="2887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Picture 10" descr="https://latex.codecogs.com/png.latex?%5Cdpi%7B200%7D%20%5Cfrac%7B1%7D%7Bs%7D%20&amp;plus;%20%5Cfrac%7B1%7D%7Bs%27%7D%20%3D%5Cfrac%7B1%7D%7Bf%7D%2C">
            <a:extLst>
              <a:ext uri="{FF2B5EF4-FFF2-40B4-BE49-F238E27FC236}">
                <a16:creationId xmlns:a16="http://schemas.microsoft.com/office/drawing/2014/main" id="{F2B0C7E3-1FCE-416E-8F0C-B93F43A4C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961" y="1927691"/>
            <a:ext cx="553333" cy="24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8" name="Rectangle 327">
            <a:extLst>
              <a:ext uri="{FF2B5EF4-FFF2-40B4-BE49-F238E27FC236}">
                <a16:creationId xmlns:a16="http://schemas.microsoft.com/office/drawing/2014/main" id="{84567C5B-75B3-4597-8BDC-7188425EC804}"/>
              </a:ext>
            </a:extLst>
          </p:cNvPr>
          <p:cNvSpPr/>
          <p:nvPr/>
        </p:nvSpPr>
        <p:spPr>
          <a:xfrm>
            <a:off x="4022277" y="2590446"/>
            <a:ext cx="3482703" cy="2887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6" name="Picture 12" descr="https://latex.codecogs.com/png.latex?%5Cdpi%7B200%7D%20m%20%3D%20-%5Cfrac%7Bs%27%7D%7Bs%7D">
            <a:extLst>
              <a:ext uri="{FF2B5EF4-FFF2-40B4-BE49-F238E27FC236}">
                <a16:creationId xmlns:a16="http://schemas.microsoft.com/office/drawing/2014/main" id="{50E4021B-7D6C-4241-8D64-72C47B58F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5293" y="2605961"/>
            <a:ext cx="416667" cy="23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1" name="TextBox 330">
            <a:extLst>
              <a:ext uri="{FF2B5EF4-FFF2-40B4-BE49-F238E27FC236}">
                <a16:creationId xmlns:a16="http://schemas.microsoft.com/office/drawing/2014/main" id="{5BEFCA03-941A-4F44-B2DF-347512FA8DA8}"/>
              </a:ext>
            </a:extLst>
          </p:cNvPr>
          <p:cNvSpPr txBox="1"/>
          <p:nvPr/>
        </p:nvSpPr>
        <p:spPr>
          <a:xfrm flipH="1">
            <a:off x="3951167" y="4592912"/>
            <a:ext cx="3629277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Refraction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spherical surface can form a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real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or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virtual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image, with object and image distance related by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Thin Lenses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thin lens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can form a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real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or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virtual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image with location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’ given by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lateral magnification is given by 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focal length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given by the lens maker’s equation,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Sign conventions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: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positive for a surface convex toward the object. 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positive for a converging lens. 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s'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positive for a real image.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        Converging lens                              Diverging lens</a:t>
            </a:r>
          </a:p>
        </p:txBody>
      </p:sp>
      <p:pic>
        <p:nvPicPr>
          <p:cNvPr id="158" name="Picture 14" descr="https://latex.codecogs.com/png.latex?%5Cdpi%7B200%7D%20%5Cfrac%7Bn_1%7D%7Bs%7D%20&amp;plus;%20%5Cfrac%7Bn_2%7D%7Bs%27%7D%20%3D%20%5Cfrac%7Bn_2%20-%20n_1%7D%7BR%7D.">
            <a:extLst>
              <a:ext uri="{FF2B5EF4-FFF2-40B4-BE49-F238E27FC236}">
                <a16:creationId xmlns:a16="http://schemas.microsoft.com/office/drawing/2014/main" id="{A072E740-0E41-4525-8346-6CDBA173B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438" y="5237460"/>
            <a:ext cx="926667" cy="19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4" name="Rectangle 333">
            <a:extLst>
              <a:ext uri="{FF2B5EF4-FFF2-40B4-BE49-F238E27FC236}">
                <a16:creationId xmlns:a16="http://schemas.microsoft.com/office/drawing/2014/main" id="{67A310E7-AEA4-4603-ABD7-AD20F04D1C27}"/>
              </a:ext>
            </a:extLst>
          </p:cNvPr>
          <p:cNvSpPr/>
          <p:nvPr/>
        </p:nvSpPr>
        <p:spPr>
          <a:xfrm>
            <a:off x="4022274" y="6191592"/>
            <a:ext cx="3482703" cy="2887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9" name="Picture 16" descr="https://latex.codecogs.com/png.latex?%5Cdpi%7B200%7D%20%5Cfrac%7B1%7D%7Bs%7D%20&amp;plus;%20%5Cfrac%7B1%7D%7Bs%27%7D%20%3D%20%5Cfrac%7B1%7D%7Bf%7D.">
            <a:extLst>
              <a:ext uri="{FF2B5EF4-FFF2-40B4-BE49-F238E27FC236}">
                <a16:creationId xmlns:a16="http://schemas.microsoft.com/office/drawing/2014/main" id="{526AE335-4AED-4A78-901E-EB205296F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958" y="6212636"/>
            <a:ext cx="553333" cy="24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Picture 18" descr="https://latex.codecogs.com/png.latex?%5Cdpi%7B200%7D%20%5Cfrac%7B1%7D%7Bf%7D%20%3D%20%28n-1%29%20%5Cleft%28%20%5Cfrac%7B1%7D%7BR_1%7D%20-%20%5Cfrac%7B1%7D%7BR_2%7D%5Cright%20%29">
            <a:extLst>
              <a:ext uri="{FF2B5EF4-FFF2-40B4-BE49-F238E27FC236}">
                <a16:creationId xmlns:a16="http://schemas.microsoft.com/office/drawing/2014/main" id="{0F91562A-543F-482D-ACF3-45EEA6387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956" y="7311408"/>
            <a:ext cx="1153333" cy="26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6" name="Rectangle 335">
            <a:extLst>
              <a:ext uri="{FF2B5EF4-FFF2-40B4-BE49-F238E27FC236}">
                <a16:creationId xmlns:a16="http://schemas.microsoft.com/office/drawing/2014/main" id="{B3E4A070-5A1A-40B3-A370-DAAD60F2FA2A}"/>
              </a:ext>
            </a:extLst>
          </p:cNvPr>
          <p:cNvSpPr/>
          <p:nvPr/>
        </p:nvSpPr>
        <p:spPr>
          <a:xfrm>
            <a:off x="4022274" y="6751500"/>
            <a:ext cx="3482703" cy="2887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7" name="Picture 12" descr="https://latex.codecogs.com/png.latex?%5Cdpi%7B200%7D%20m%20%3D%20-%5Cfrac%7Bs%27%7D%7Bs%7D">
            <a:extLst>
              <a:ext uri="{FF2B5EF4-FFF2-40B4-BE49-F238E27FC236}">
                <a16:creationId xmlns:a16="http://schemas.microsoft.com/office/drawing/2014/main" id="{6F1E01F0-494C-4F53-9C49-B26635C76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5290" y="6767015"/>
            <a:ext cx="416667" cy="23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Picture 20" descr="Figure a shows the cross section of a parabolic mirror. Parallel rays reflect from it and converge at a point labeled F, within the parabola. Figure b shows parallel rays reflected from an arc. They are reflected towards various different points close to each other. Figure c shows an arc whose radius of curvature is much bigger compared to that of the arc in figure b. Parallel rays reflect from it and converge at a point labeled F. The distance from point F to the mirror is labeled f.">
            <a:extLst>
              <a:ext uri="{FF2B5EF4-FFF2-40B4-BE49-F238E27FC236}">
                <a16:creationId xmlns:a16="http://schemas.microsoft.com/office/drawing/2014/main" id="{9D0973C6-34B5-4B19-87F2-02C99B9914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37" t="8094" b="8637"/>
          <a:stretch/>
        </p:blipFill>
        <p:spPr bwMode="auto">
          <a:xfrm>
            <a:off x="4560337" y="3292831"/>
            <a:ext cx="1019160" cy="93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Picture 22" descr="Figure a shows the cross section of a convex mirror. Parallel rays reflect from it and diverge in different directions. The reflected rays are extended at the back by dotted lines and seem to originate from a single point behind the mirror. This point is labeled F. The distance from this point to the mirror is labeled f. Figure b shows the photograph of a convex mirror reflecting the image of a building. The image is curved and distorted. ">
            <a:extLst>
              <a:ext uri="{FF2B5EF4-FFF2-40B4-BE49-F238E27FC236}">
                <a16:creationId xmlns:a16="http://schemas.microsoft.com/office/drawing/2014/main" id="{8D6D7BD3-4929-45C8-A0F3-B5711844CE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70" r="59042" b="18590"/>
          <a:stretch/>
        </p:blipFill>
        <p:spPr bwMode="auto">
          <a:xfrm>
            <a:off x="5975189" y="3319400"/>
            <a:ext cx="1019160" cy="932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Picture 24" descr="Figure a shows rays parallel to the optical axis striking a bi-convex lens and converging on the other side at point F. Figure b shows rays parallel to the optical axis striking a bi-concave lens and diverging on the other side. The diverging rays are extended at the back and seem to originate from point F in front of the lens. In both figures the distance from the center of the lens to point F is labeled f.">
            <a:extLst>
              <a:ext uri="{FF2B5EF4-FFF2-40B4-BE49-F238E27FC236}">
                <a16:creationId xmlns:a16="http://schemas.microsoft.com/office/drawing/2014/main" id="{A8FC54F3-5A7B-4C34-9884-5D8097A89B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4" r="45252" b="27724"/>
          <a:stretch/>
        </p:blipFill>
        <p:spPr bwMode="auto">
          <a:xfrm>
            <a:off x="4157437" y="8156506"/>
            <a:ext cx="1603573" cy="758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3" name="Picture 24" descr="Figure a shows rays parallel to the optical axis striking a bi-convex lens and converging on the other side at point F. Figure b shows rays parallel to the optical axis striking a bi-concave lens and diverging on the other side. The diverging rays are extended at the back and seem to originate from point F in front of the lens. In both figures the distance from the center of the lens to point F is labeled f.">
            <a:extLst>
              <a:ext uri="{FF2B5EF4-FFF2-40B4-BE49-F238E27FC236}">
                <a16:creationId xmlns:a16="http://schemas.microsoft.com/office/drawing/2014/main" id="{B3EB4D51-494A-47EE-9956-56C5ED688F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37" t="458" r="439" b="27266"/>
          <a:stretch/>
        </p:blipFill>
        <p:spPr bwMode="auto">
          <a:xfrm>
            <a:off x="5748129" y="8156506"/>
            <a:ext cx="1603573" cy="758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16A4F445-7D6C-4C78-B582-C2DDC53130DB}"/>
              </a:ext>
            </a:extLst>
          </p:cNvPr>
          <p:cNvSpPr txBox="1"/>
          <p:nvPr/>
        </p:nvSpPr>
        <p:spPr>
          <a:xfrm>
            <a:off x="138687" y="9757352"/>
            <a:ext cx="28248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E2E6EE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Joseph D. MacMillan | Licensed under CC BY-NC-SA 4.0.</a:t>
            </a:r>
          </a:p>
        </p:txBody>
      </p:sp>
    </p:spTree>
    <p:extLst>
      <p:ext uri="{BB962C8B-B14F-4D97-AF65-F5344CB8AC3E}">
        <p14:creationId xmlns:p14="http://schemas.microsoft.com/office/powerpoint/2010/main" val="4018716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">
      <a:dk1>
        <a:srgbClr val="000000"/>
      </a:dk1>
      <a:lt1>
        <a:srgbClr val="FFFFFF"/>
      </a:lt1>
      <a:dk2>
        <a:srgbClr val="353958"/>
      </a:dk2>
      <a:lt2>
        <a:srgbClr val="F5F5E5"/>
      </a:lt2>
      <a:accent1>
        <a:srgbClr val="E2E6EE"/>
      </a:accent1>
      <a:accent2>
        <a:srgbClr val="A6B727"/>
      </a:accent2>
      <a:accent3>
        <a:srgbClr val="FECD6A"/>
      </a:accent3>
      <a:accent4>
        <a:srgbClr val="838383"/>
      </a:accent4>
      <a:accent5>
        <a:srgbClr val="FFF6B3"/>
      </a:accent5>
      <a:accent6>
        <a:srgbClr val="E95151"/>
      </a:accent6>
      <a:hlink>
        <a:srgbClr val="F59E00"/>
      </a:hlink>
      <a:folHlink>
        <a:srgbClr val="B2B2B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9343</TotalTime>
  <Words>395</Words>
  <Application>Microsoft Office PowerPoint</Application>
  <PresentationFormat>Custom</PresentationFormat>
  <Paragraphs>109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CMU Serif</vt:lpstr>
      <vt:lpstr>Lato</vt:lpstr>
      <vt:lpstr>Open Sans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MacMillan</dc:creator>
  <cp:lastModifiedBy>Joseph Macmillan</cp:lastModifiedBy>
  <cp:revision>183</cp:revision>
  <cp:lastPrinted>2020-05-21T19:07:50Z</cp:lastPrinted>
  <dcterms:created xsi:type="dcterms:W3CDTF">2020-05-21T00:40:48Z</dcterms:created>
  <dcterms:modified xsi:type="dcterms:W3CDTF">2025-01-13T20:15:32Z</dcterms:modified>
</cp:coreProperties>
</file>