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7772400" cy="10058400"/>
  <p:notesSz cx="6950075" cy="9167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242"/>
    <a:srgbClr val="CD6565"/>
    <a:srgbClr val="003E6B"/>
    <a:srgbClr val="FF6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30" autoAdjust="0"/>
    <p:restoredTop sz="95268" autoAdjust="0"/>
  </p:normalViewPr>
  <p:slideViewPr>
    <p:cSldViewPr snapToGrid="0">
      <p:cViewPr varScale="1">
        <p:scale>
          <a:sx n="78" d="100"/>
          <a:sy n="78" d="100"/>
        </p:scale>
        <p:origin x="3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12329" cy="460269"/>
          </a:xfrm>
          <a:prstGeom prst="rect">
            <a:avLst/>
          </a:prstGeom>
        </p:spPr>
        <p:txBody>
          <a:bodyPr vert="horz" lIns="90379" tIns="45190" rIns="90379" bIns="451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173" y="1"/>
            <a:ext cx="3012329" cy="460269"/>
          </a:xfrm>
          <a:prstGeom prst="rect">
            <a:avLst/>
          </a:prstGeom>
        </p:spPr>
        <p:txBody>
          <a:bodyPr vert="horz" lIns="90379" tIns="45190" rIns="90379" bIns="45190" rtlCol="0"/>
          <a:lstStyle>
            <a:lvl1pPr algn="r">
              <a:defRPr sz="1200"/>
            </a:lvl1pPr>
          </a:lstStyle>
          <a:p>
            <a:fld id="{34EA587D-FA0E-4653-B6D4-8BB4C332463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9650" y="1146175"/>
            <a:ext cx="2390775" cy="3094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79" tIns="45190" rIns="90379" bIns="4519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637" y="4411698"/>
            <a:ext cx="5558801" cy="3610139"/>
          </a:xfrm>
          <a:prstGeom prst="rect">
            <a:avLst/>
          </a:prstGeom>
        </p:spPr>
        <p:txBody>
          <a:bodyPr vert="horz" lIns="90379" tIns="45190" rIns="90379" bIns="451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07544"/>
            <a:ext cx="3012329" cy="460269"/>
          </a:xfrm>
          <a:prstGeom prst="rect">
            <a:avLst/>
          </a:prstGeom>
        </p:spPr>
        <p:txBody>
          <a:bodyPr vert="horz" lIns="90379" tIns="45190" rIns="90379" bIns="451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173" y="8707544"/>
            <a:ext cx="3012329" cy="460269"/>
          </a:xfrm>
          <a:prstGeom prst="rect">
            <a:avLst/>
          </a:prstGeom>
        </p:spPr>
        <p:txBody>
          <a:bodyPr vert="horz" lIns="90379" tIns="45190" rIns="90379" bIns="45190" rtlCol="0" anchor="b"/>
          <a:lstStyle>
            <a:lvl1pPr algn="r">
              <a:defRPr sz="1200"/>
            </a:lvl1pPr>
          </a:lstStyle>
          <a:p>
            <a:fld id="{115EB946-8B91-4556-A829-CFFF18C6A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7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1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1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9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5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5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8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9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1C58D-49E5-4521-A62C-D0C7B13CEB02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E9E70-1B85-4525-A715-263F796D9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file:///C:\Documents%20and%20Settings\rajesh.ACEPRO\Desktop\A_Figures_and_Photos_ch13\Labeled\69-33_24_Figure-L.jpg" TargetMode="External"/><Relationship Id="rId1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jp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image" Target="file:///C:\Documents%20and%20Settings\rajesh.ACEPRO\Desktop\A_Figures_and_Photos_ch13\Labeled\19-33_05_Figure-L.jpg" TargetMode="External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7.jp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5094E047-93DE-44BC-BAB4-DFFB6C564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959"/>
            <a:ext cx="7772401" cy="752952"/>
          </a:xfrm>
          <a:prstGeom prst="rect">
            <a:avLst/>
          </a:prstGeom>
        </p:spPr>
      </p:pic>
      <p:sp>
        <p:nvSpPr>
          <p:cNvPr id="204" name="Rectangle 203">
            <a:extLst>
              <a:ext uri="{FF2B5EF4-FFF2-40B4-BE49-F238E27FC236}">
                <a16:creationId xmlns:a16="http://schemas.microsoft.com/office/drawing/2014/main" id="{B26C8743-B5EB-403C-A970-41B1094341C1}"/>
              </a:ext>
            </a:extLst>
          </p:cNvPr>
          <p:cNvSpPr/>
          <p:nvPr/>
        </p:nvSpPr>
        <p:spPr>
          <a:xfrm>
            <a:off x="193579" y="7417971"/>
            <a:ext cx="7359762" cy="1868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63D9EAF-F092-4864-9A34-0562308001A3}"/>
              </a:ext>
            </a:extLst>
          </p:cNvPr>
          <p:cNvSpPr/>
          <p:nvPr/>
        </p:nvSpPr>
        <p:spPr>
          <a:xfrm>
            <a:off x="323819" y="8036030"/>
            <a:ext cx="3268966" cy="4449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2AE5DBF2-9049-4247-8A53-E2779B8D8E6C}"/>
              </a:ext>
            </a:extLst>
          </p:cNvPr>
          <p:cNvSpPr/>
          <p:nvPr/>
        </p:nvSpPr>
        <p:spPr>
          <a:xfrm>
            <a:off x="203265" y="2745150"/>
            <a:ext cx="3629277" cy="44812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B2DD8C1-A0B4-4494-BD7A-B5C32237109D}"/>
              </a:ext>
            </a:extLst>
          </p:cNvPr>
          <p:cNvSpPr txBox="1"/>
          <p:nvPr/>
        </p:nvSpPr>
        <p:spPr>
          <a:xfrm flipH="1">
            <a:off x="210024" y="2823311"/>
            <a:ext cx="236119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Young’s Double Slit Experiment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Light illuminates the double slits of separation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the waves from each slit spread out behind the slit and interfere. A screen placed a distance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from the slits shows the interference pattern.	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Constructive interference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(resulting in a bright fringe) occurs when both waves arrive in phase at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order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denotes the </a:t>
            </a:r>
            <a:r>
              <a:rPr lang="en-US" sz="9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m</a:t>
            </a:r>
            <a:r>
              <a:rPr lang="en-US" sz="900" baseline="30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th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 bright fringe starting with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m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= 0 at the center.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Bright fringes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are equally spaced and located at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Descructive</a:t>
            </a:r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interference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(resulting in a dark fringe) occurs when both waves arrive out of phase at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  They are located exactly halfway between the bright fringes: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D2B16-66A1-4B96-BF3A-902A1D3E7632}"/>
              </a:ext>
            </a:extLst>
          </p:cNvPr>
          <p:cNvSpPr/>
          <p:nvPr/>
        </p:nvSpPr>
        <p:spPr>
          <a:xfrm>
            <a:off x="193579" y="825496"/>
            <a:ext cx="3629277" cy="17574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D49A6E-8118-4177-A754-48CAA8F000B1}"/>
              </a:ext>
            </a:extLst>
          </p:cNvPr>
          <p:cNvSpPr/>
          <p:nvPr/>
        </p:nvSpPr>
        <p:spPr>
          <a:xfrm>
            <a:off x="0" y="9459455"/>
            <a:ext cx="7772401" cy="598945"/>
          </a:xfrm>
          <a:prstGeom prst="rect">
            <a:avLst/>
          </a:prstGeom>
          <a:solidFill>
            <a:srgbClr val="353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9FBA2A-A4DA-45DE-824D-C8A4E3DA7FD4}"/>
              </a:ext>
            </a:extLst>
          </p:cNvPr>
          <p:cNvSpPr txBox="1"/>
          <p:nvPr/>
        </p:nvSpPr>
        <p:spPr>
          <a:xfrm>
            <a:off x="304797" y="9510402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Electricity and Magnetism</a:t>
            </a:r>
            <a:endParaRPr lang="en-US" sz="2400" dirty="0">
              <a:solidFill>
                <a:srgbClr val="F6F6E6"/>
              </a:solidFill>
              <a:latin typeface="Lato" panose="020F05020202040302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B28B72-A2C5-4C2B-AC7F-1587274AAF8B}"/>
              </a:ext>
            </a:extLst>
          </p:cNvPr>
          <p:cNvSpPr txBox="1"/>
          <p:nvPr/>
        </p:nvSpPr>
        <p:spPr>
          <a:xfrm>
            <a:off x="855165" y="284982"/>
            <a:ext cx="7251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6F6E6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 – Wave Optics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8A84BC-4389-4375-9601-0B97CCF476AC}"/>
              </a:ext>
            </a:extLst>
          </p:cNvPr>
          <p:cNvSpPr txBox="1"/>
          <p:nvPr/>
        </p:nvSpPr>
        <p:spPr>
          <a:xfrm>
            <a:off x="0" y="45857"/>
            <a:ext cx="9127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2E6EE"/>
                </a:solidFill>
                <a:latin typeface="Lato" panose="020F05020202040302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43169C-21EA-48F4-A75F-ED7EDE07C655}"/>
              </a:ext>
            </a:extLst>
          </p:cNvPr>
          <p:cNvSpPr txBox="1"/>
          <p:nvPr/>
        </p:nvSpPr>
        <p:spPr>
          <a:xfrm flipH="1">
            <a:off x="194975" y="926651"/>
            <a:ext cx="357999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Wave Model of Light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Light travels as a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wave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through space.  It displays: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diffraction: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spreading of the wave after emerging from an aperture.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interference: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due to overlap of waves.  Constructive interference occurs when crest meets crest, while destructive interference occurs when crest meets trough.  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B053F10-0A94-450B-9E51-6CB6A4382D8A}"/>
              </a:ext>
            </a:extLst>
          </p:cNvPr>
          <p:cNvSpPr txBox="1"/>
          <p:nvPr/>
        </p:nvSpPr>
        <p:spPr>
          <a:xfrm flipH="1">
            <a:off x="195353" y="2170961"/>
            <a:ext cx="3629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wave model for light is valid when the aperture &lt; 1 mm in size.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0AE183B-8C39-4BF6-97C4-264CE2631283}"/>
              </a:ext>
            </a:extLst>
          </p:cNvPr>
          <p:cNvSpPr/>
          <p:nvPr/>
        </p:nvSpPr>
        <p:spPr>
          <a:xfrm>
            <a:off x="3943744" y="831259"/>
            <a:ext cx="3629277" cy="9293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17C58F5-A0DA-4418-AF5B-1866DC394FFF}"/>
              </a:ext>
            </a:extLst>
          </p:cNvPr>
          <p:cNvSpPr txBox="1"/>
          <p:nvPr/>
        </p:nvSpPr>
        <p:spPr>
          <a:xfrm flipH="1">
            <a:off x="3936098" y="798310"/>
            <a:ext cx="269904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Huygens Principle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Each point on a wave front (surface of constant phase) is the source of a spherical wavelet. The interference of these wavelets forms the wave front at any later time.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BDCB640-D13C-4859-99B3-0A3DA1D32DC2}"/>
              </a:ext>
            </a:extLst>
          </p:cNvPr>
          <p:cNvSpPr/>
          <p:nvPr/>
        </p:nvSpPr>
        <p:spPr>
          <a:xfrm>
            <a:off x="3924064" y="5201711"/>
            <a:ext cx="3629277" cy="20247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6B1475EA-6FDB-4D20-B00C-FD61F6059B61}"/>
              </a:ext>
            </a:extLst>
          </p:cNvPr>
          <p:cNvSpPr txBox="1"/>
          <p:nvPr/>
        </p:nvSpPr>
        <p:spPr>
          <a:xfrm flipH="1">
            <a:off x="4006433" y="5252983"/>
            <a:ext cx="293306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Diffraction Grating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diffraction grating is a periodic array of closely packed slits.  It is the basis of spectroscopy.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When light passes through a diffraction grating with adjacent 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slits spacing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the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interference pattern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shows very 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bright and narrow fringes at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We can’t use the small angle approximation here.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E99A46C4-AB0D-4A7C-AF24-7A221C36E01F}"/>
              </a:ext>
            </a:extLst>
          </p:cNvPr>
          <p:cNvSpPr/>
          <p:nvPr/>
        </p:nvSpPr>
        <p:spPr>
          <a:xfrm>
            <a:off x="4092916" y="6613644"/>
            <a:ext cx="2920612" cy="3502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3E4A070-5A1A-40B3-A370-DAAD60F2FA2A}"/>
              </a:ext>
            </a:extLst>
          </p:cNvPr>
          <p:cNvSpPr/>
          <p:nvPr/>
        </p:nvSpPr>
        <p:spPr>
          <a:xfrm>
            <a:off x="294964" y="5310716"/>
            <a:ext cx="2192861" cy="2887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E3176B-50F5-4955-81B3-FECFBD91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40" y="954002"/>
            <a:ext cx="700507" cy="71386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C806509-9B5E-476D-B7B8-E5BC22A43F21}"/>
              </a:ext>
            </a:extLst>
          </p:cNvPr>
          <p:cNvGrpSpPr/>
          <p:nvPr/>
        </p:nvGrpSpPr>
        <p:grpSpPr>
          <a:xfrm>
            <a:off x="2886485" y="5234605"/>
            <a:ext cx="927925" cy="1269108"/>
            <a:chOff x="2714976" y="5608271"/>
            <a:chExt cx="927925" cy="126910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B776D7D-1B88-4F65-9481-5262DD06F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1616" y="5608271"/>
              <a:ext cx="100304" cy="1269108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9241A5C4-2F5A-429B-9432-8B9D84760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14976" y="6120640"/>
              <a:ext cx="45719" cy="499704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D14BF73E-44CB-46B0-80E9-66E6C1216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15821" y="5858052"/>
              <a:ext cx="45719" cy="499701"/>
            </a:xfrm>
            <a:prstGeom prst="rect">
              <a:avLst/>
            </a:prstGeom>
          </p:spPr>
        </p:pic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3BBB87E-4C8F-4537-8A05-14143D908185}"/>
                </a:ext>
              </a:extLst>
            </p:cNvPr>
            <p:cNvCxnSpPr>
              <a:cxnSpLocks/>
            </p:cNvCxnSpPr>
            <p:nvPr/>
          </p:nvCxnSpPr>
          <p:spPr>
            <a:xfrm>
              <a:off x="2760695" y="6243168"/>
              <a:ext cx="461899" cy="0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4B47049-80B6-495A-A436-8D35CC7E31B2}"/>
                </a:ext>
              </a:extLst>
            </p:cNvPr>
            <p:cNvSpPr/>
            <p:nvPr/>
          </p:nvSpPr>
          <p:spPr>
            <a:xfrm>
              <a:off x="2811795" y="6200143"/>
              <a:ext cx="240304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L</a:t>
              </a:r>
              <a:endParaRPr lang="en-US" sz="900" dirty="0"/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D64518B4-55EA-4128-9462-70E437C7A0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695" y="5978647"/>
              <a:ext cx="461899" cy="249514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89F653A-1216-4CD1-8754-FF27D25B87C6}"/>
                </a:ext>
              </a:extLst>
            </p:cNvPr>
            <p:cNvSpPr txBox="1"/>
            <p:nvPr/>
          </p:nvSpPr>
          <p:spPr>
            <a:xfrm>
              <a:off x="2941347" y="6026436"/>
              <a:ext cx="3315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900" i="1" dirty="0">
                  <a:latin typeface="Cambria Math" panose="02040503050406030204" pitchFamily="18" charset="0"/>
                  <a:ea typeface="Cambria Math" panose="02040503050406030204" pitchFamily="18" charset="0"/>
                  <a:cs typeface="CMU Serif" panose="02000603000000000000" pitchFamily="2" charset="0"/>
                </a:rPr>
                <a:t>θ</a:t>
              </a:r>
              <a:r>
                <a:rPr lang="en-US" sz="900" i="1" baseline="-25000" dirty="0"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rPr>
                <a:t>m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B9DD2AB-3C1B-4862-B291-25CB7DB81531}"/>
                </a:ext>
              </a:extLst>
            </p:cNvPr>
            <p:cNvSpPr txBox="1"/>
            <p:nvPr/>
          </p:nvSpPr>
          <p:spPr>
            <a:xfrm>
              <a:off x="3322102" y="6006546"/>
              <a:ext cx="32079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i="1" dirty="0" err="1">
                  <a:latin typeface="Cambria Math" panose="02040503050406030204" pitchFamily="18" charset="0"/>
                  <a:ea typeface="Cambria Math" panose="02040503050406030204" pitchFamily="18" charset="0"/>
                  <a:cs typeface="CMU Serif" panose="02000603000000000000" pitchFamily="2" charset="0"/>
                </a:rPr>
                <a:t>y</a:t>
              </a:r>
              <a:r>
                <a:rPr lang="en-US" sz="900" i="1" baseline="-25000" dirty="0" err="1"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rPr>
                <a:t>m</a:t>
              </a:r>
              <a:endParaRPr lang="en-US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94CF21D-1009-4D39-93D4-0C0408B7A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5838" y="5950576"/>
              <a:ext cx="0" cy="296517"/>
            </a:xfrm>
            <a:prstGeom prst="line">
              <a:avLst/>
            </a:prstGeom>
            <a:ln w="95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0C72FA92-5FC6-4F59-90B2-7C94C72EF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606" y="5403994"/>
            <a:ext cx="190527" cy="1163540"/>
          </a:xfrm>
          <a:prstGeom prst="rect">
            <a:avLst/>
          </a:prstGeom>
        </p:spPr>
      </p:pic>
      <p:sp>
        <p:nvSpPr>
          <p:cNvPr id="174" name="Rectangle 173">
            <a:extLst>
              <a:ext uri="{FF2B5EF4-FFF2-40B4-BE49-F238E27FC236}">
                <a16:creationId xmlns:a16="http://schemas.microsoft.com/office/drawing/2014/main" id="{0FA41364-206D-4BE5-AB64-C5F417760226}"/>
              </a:ext>
            </a:extLst>
          </p:cNvPr>
          <p:cNvSpPr/>
          <p:nvPr/>
        </p:nvSpPr>
        <p:spPr>
          <a:xfrm>
            <a:off x="3041102" y="3919796"/>
            <a:ext cx="184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9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45A5666-3AB1-4D92-959F-0371DCDC1992}"/>
              </a:ext>
            </a:extLst>
          </p:cNvPr>
          <p:cNvSpPr/>
          <p:nvPr/>
        </p:nvSpPr>
        <p:spPr>
          <a:xfrm>
            <a:off x="3939860" y="1911877"/>
            <a:ext cx="3629277" cy="32061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EC4BF12-A526-4DB3-82C0-17316F50E86A}"/>
              </a:ext>
            </a:extLst>
          </p:cNvPr>
          <p:cNvSpPr/>
          <p:nvPr/>
        </p:nvSpPr>
        <p:spPr>
          <a:xfrm>
            <a:off x="4056987" y="3862388"/>
            <a:ext cx="3363433" cy="261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FD69D8B-6539-4764-86D2-3815EA043DAB}"/>
              </a:ext>
            </a:extLst>
          </p:cNvPr>
          <p:cNvSpPr txBox="1"/>
          <p:nvPr/>
        </p:nvSpPr>
        <p:spPr>
          <a:xfrm flipH="1">
            <a:off x="3969017" y="1939918"/>
            <a:ext cx="341052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Single Slit</a:t>
            </a:r>
          </a:p>
          <a:p>
            <a:endParaRPr lang="en-US" sz="12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When light of wavelength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Symbol" panose="05050102010706020507" pitchFamily="18" charset="2"/>
              </a:rPr>
              <a:t>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passes through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 single slit of width </a:t>
            </a:r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the diffraction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pattern displayed on a screen shows a 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bright central maximum of width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surrounded by weaker fringes.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Dark fringes 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are located at angles and positions at </a:t>
            </a: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sz="9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If the aperture is </a:t>
            </a:r>
            <a:r>
              <a:rPr lang="en-US" sz="9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circular</a:t>
            </a:r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instead of a slit, </a:t>
            </a:r>
          </a:p>
          <a:p>
            <a:r>
              <a:rPr lang="en-US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width of the central maximum is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20ABCF7-14F5-4793-814E-4CEE30E75845}"/>
              </a:ext>
            </a:extLst>
          </p:cNvPr>
          <p:cNvSpPr txBox="1"/>
          <p:nvPr/>
        </p:nvSpPr>
        <p:spPr>
          <a:xfrm>
            <a:off x="6726270" y="2457595"/>
            <a:ext cx="287258" cy="253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900" i="1" dirty="0">
                <a:latin typeface="Cambria Math" panose="02040503050406030204" pitchFamily="18" charset="0"/>
                <a:ea typeface="Cambria Math" panose="02040503050406030204" pitchFamily="18" charset="0"/>
                <a:cs typeface="CMU Serif" panose="02000603000000000000" pitchFamily="2" charset="0"/>
              </a:rPr>
              <a:t>θ</a:t>
            </a:r>
            <a:r>
              <a:rPr lang="en-US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AA23E65-4B43-4B3C-B611-1F082AF1BF17}"/>
              </a:ext>
            </a:extLst>
          </p:cNvPr>
          <p:cNvSpPr/>
          <p:nvPr/>
        </p:nvSpPr>
        <p:spPr>
          <a:xfrm>
            <a:off x="4056988" y="2923823"/>
            <a:ext cx="2169203" cy="290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89A1199-474C-419F-95D1-736B7030EA88}"/>
              </a:ext>
            </a:extLst>
          </p:cNvPr>
          <p:cNvCxnSpPr>
            <a:cxnSpLocks/>
          </p:cNvCxnSpPr>
          <p:nvPr/>
        </p:nvCxnSpPr>
        <p:spPr>
          <a:xfrm flipV="1">
            <a:off x="6476230" y="2429141"/>
            <a:ext cx="601401" cy="227520"/>
          </a:xfrm>
          <a:prstGeom prst="line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Picture 184">
            <a:extLst>
              <a:ext uri="{FF2B5EF4-FFF2-40B4-BE49-F238E27FC236}">
                <a16:creationId xmlns:a16="http://schemas.microsoft.com/office/drawing/2014/main" id="{73AFDCE2-9F38-49E2-BE5A-089F90B77C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 flipV="1">
            <a:off x="6674600" y="2630163"/>
            <a:ext cx="880353" cy="74291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8AE3404D-5DAA-4FB3-8D8F-594E8923A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321" y="2293587"/>
            <a:ext cx="67616" cy="739032"/>
          </a:xfrm>
          <a:prstGeom prst="rect">
            <a:avLst/>
          </a:prstGeom>
        </p:spPr>
      </p:pic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FCB0C8F-571E-4AF5-97EA-7A56F7154760}"/>
              </a:ext>
            </a:extLst>
          </p:cNvPr>
          <p:cNvCxnSpPr>
            <a:cxnSpLocks/>
          </p:cNvCxnSpPr>
          <p:nvPr/>
        </p:nvCxnSpPr>
        <p:spPr>
          <a:xfrm>
            <a:off x="6476230" y="2659912"/>
            <a:ext cx="614694" cy="8631"/>
          </a:xfrm>
          <a:prstGeom prst="line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FE882B3-7CBC-4A8B-BA3C-586A32027096}"/>
              </a:ext>
            </a:extLst>
          </p:cNvPr>
          <p:cNvSpPr/>
          <p:nvPr/>
        </p:nvSpPr>
        <p:spPr>
          <a:xfrm>
            <a:off x="6574141" y="2617238"/>
            <a:ext cx="23275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endParaRPr lang="en-US" sz="900" dirty="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02448FB-5E5C-4524-825D-D1F71D43F677}"/>
              </a:ext>
            </a:extLst>
          </p:cNvPr>
          <p:cNvCxnSpPr>
            <a:cxnSpLocks/>
          </p:cNvCxnSpPr>
          <p:nvPr/>
        </p:nvCxnSpPr>
        <p:spPr>
          <a:xfrm flipV="1">
            <a:off x="7420421" y="2421840"/>
            <a:ext cx="0" cy="244142"/>
          </a:xfrm>
          <a:prstGeom prst="line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A0721529-BD51-4DFA-BD71-7219FA1DEA0C}"/>
              </a:ext>
            </a:extLst>
          </p:cNvPr>
          <p:cNvSpPr txBox="1"/>
          <p:nvPr/>
        </p:nvSpPr>
        <p:spPr>
          <a:xfrm>
            <a:off x="7354638" y="2439638"/>
            <a:ext cx="2872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latin typeface="Cambria Math" panose="02040503050406030204" pitchFamily="18" charset="0"/>
                <a:ea typeface="Cambria Math" panose="02040503050406030204" pitchFamily="18" charset="0"/>
                <a:cs typeface="CMU Serif" panose="02000603000000000000" pitchFamily="2" charset="0"/>
              </a:rPr>
              <a:t>y</a:t>
            </a:r>
            <a:r>
              <a:rPr lang="en-US" sz="900" i="1" baseline="-25000" dirty="0" err="1">
                <a:latin typeface="CMU Serif" panose="02000603000000000000" pitchFamily="2" charset="0"/>
                <a:ea typeface="Cambria Math" panose="02040503050406030204" pitchFamily="18" charset="0"/>
                <a:cs typeface="CMU Serif" panose="02000603000000000000" pitchFamily="2" charset="0"/>
              </a:rPr>
              <a:t>p</a:t>
            </a:r>
            <a:endParaRPr lang="en-US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278B40D-986E-4307-9929-AFB941CFCECE}"/>
                  </a:ext>
                </a:extLst>
              </p:cNvPr>
              <p:cNvSpPr txBox="1"/>
              <p:nvPr/>
            </p:nvSpPr>
            <p:spPr>
              <a:xfrm rot="5400000">
                <a:off x="7066165" y="2532778"/>
                <a:ext cx="3254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278B40D-986E-4307-9929-AFB941CFC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066165" y="2532778"/>
                <a:ext cx="325410" cy="276999"/>
              </a:xfrm>
              <a:prstGeom prst="rect">
                <a:avLst/>
              </a:prstGeom>
              <a:blipFill>
                <a:blip r:embed="rId8"/>
                <a:stretch>
                  <a:fillRect t="-11321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3" name="Picture 192">
            <a:extLst>
              <a:ext uri="{FF2B5EF4-FFF2-40B4-BE49-F238E27FC236}">
                <a16:creationId xmlns:a16="http://schemas.microsoft.com/office/drawing/2014/main" id="{F4BADF2B-671C-4586-A3EF-6BC5FD63678F}"/>
              </a:ext>
            </a:extLst>
          </p:cNvPr>
          <p:cNvPicPr>
            <a:picLocks noChangeAspect="1"/>
          </p:cNvPicPr>
          <p:nvPr/>
        </p:nvPicPr>
        <p:blipFill rotWithShape="1"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30"/>
          <a:stretch/>
        </p:blipFill>
        <p:spPr>
          <a:xfrm>
            <a:off x="2651562" y="3993020"/>
            <a:ext cx="1086033" cy="116941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501AE08-D67B-4B49-93D6-35394070FF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6764" y="2853711"/>
            <a:ext cx="1083865" cy="1062244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9EA7A1AB-3632-41D7-AA5D-2C39D1704360}"/>
              </a:ext>
            </a:extLst>
          </p:cNvPr>
          <p:cNvSpPr/>
          <p:nvPr/>
        </p:nvSpPr>
        <p:spPr>
          <a:xfrm>
            <a:off x="244714" y="7538116"/>
            <a:ext cx="3050835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latin typeface="Lato" panose="020F0502020204030203" pitchFamily="34" charset="0"/>
                <a:ea typeface="CMU Serif" panose="02000603000000000000" pitchFamily="2" charset="0"/>
                <a:cs typeface="CMU Serif" panose="02000603000000000000" pitchFamily="2" charset="0"/>
              </a:rPr>
              <a:t>The Michelson Interferometer</a:t>
            </a:r>
          </a:p>
          <a:p>
            <a:r>
              <a:rPr lang="en-US" sz="900" dirty="0">
                <a:latin typeface="CMU Serif" panose="02000603000000000000" pitchFamily="2" charset="0"/>
              </a:rPr>
              <a:t>is used to make very precise measurements with light waves.</a:t>
            </a:r>
          </a:p>
        </p:txBody>
      </p:sp>
      <p:pic>
        <p:nvPicPr>
          <p:cNvPr id="207" name="Picture 206">
            <a:extLst>
              <a:ext uri="{FF2B5EF4-FFF2-40B4-BE49-F238E27FC236}">
                <a16:creationId xmlns:a16="http://schemas.microsoft.com/office/drawing/2014/main" id="{8DC40412-ACB3-432A-BDF7-88A5F21EDF9C}"/>
              </a:ext>
            </a:extLst>
          </p:cNvPr>
          <p:cNvPicPr>
            <a:picLocks noChangeAspect="1"/>
          </p:cNvPicPr>
          <p:nvPr/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189" y="7555224"/>
            <a:ext cx="1684195" cy="1598017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70603B93-E372-4BE3-853B-97517343F292}"/>
              </a:ext>
            </a:extLst>
          </p:cNvPr>
          <p:cNvSpPr/>
          <p:nvPr/>
        </p:nvSpPr>
        <p:spPr>
          <a:xfrm>
            <a:off x="386646" y="8072766"/>
            <a:ext cx="32873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Constructive interference: L</a:t>
            </a:r>
            <a:r>
              <a:rPr lang="en-US" sz="9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 - L</a:t>
            </a:r>
            <a:r>
              <a:rPr lang="en-US" sz="9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 = m 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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/2       m = 0, 1, 2 …</a:t>
            </a:r>
          </a:p>
          <a:p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Destructive interference: L</a:t>
            </a:r>
            <a:r>
              <a:rPr lang="en-US" sz="9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 - L</a:t>
            </a:r>
            <a:r>
              <a:rPr lang="en-US" sz="9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 = (m + 1/2) 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</a:t>
            </a:r>
            <a:r>
              <a:rPr lang="en-US" sz="900" dirty="0">
                <a:latin typeface="Cambria Math" panose="02040503050406030204" pitchFamily="18" charset="0"/>
                <a:ea typeface="Cambria Math" panose="02040503050406030204" pitchFamily="18" charset="0"/>
              </a:rPr>
              <a:t>/2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7EBB626-E8E3-F7FE-D45D-0AE32BA1394B}"/>
              </a:ext>
            </a:extLst>
          </p:cNvPr>
          <p:cNvSpPr/>
          <p:nvPr/>
        </p:nvSpPr>
        <p:spPr>
          <a:xfrm>
            <a:off x="7161140" y="2556818"/>
            <a:ext cx="26642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en-US" sz="900" dirty="0"/>
          </a:p>
        </p:txBody>
      </p:sp>
      <p:pic>
        <p:nvPicPr>
          <p:cNvPr id="1028" name="Picture 4" descr="https://latex.codecogs.com/png.latex?%5Cdpi%7B300%7D%20%5Ctheta_m%20%3D%20m%20%5Cfrac%7B%5Clambda%7D%7Bd%7D%2C%20%5Cquad%20y_m%20%3D%20%5Cfrac%7Bm%5Clambda%20L%7D%7Bd%7D%2C%20%5Cquad%20m%20%3D%200%2C1%2C2%2C%20%5Cdots">
            <a:extLst>
              <a:ext uri="{FF2B5EF4-FFF2-40B4-BE49-F238E27FC236}">
                <a16:creationId xmlns:a16="http://schemas.microsoft.com/office/drawing/2014/main" id="{87975E1D-0BEF-4386-AE4E-5DAC89049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70" y="5335030"/>
            <a:ext cx="2035262" cy="24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8533F38E-8B3E-4466-ABCA-0670B1419694}"/>
              </a:ext>
            </a:extLst>
          </p:cNvPr>
          <p:cNvSpPr/>
          <p:nvPr/>
        </p:nvSpPr>
        <p:spPr>
          <a:xfrm>
            <a:off x="304884" y="6458091"/>
            <a:ext cx="2893433" cy="397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https://latex.codecogs.com/png.latex?%5Cdpi%7B300%7D%20%5Ctheta_m%20%3D%20%5Cleft%28%20m&amp;plus;%5Ctfrac%7B1%7D%7B2%7D%20%5Cright%29%20%5Cfrac%7B%5Clambda%7D%7Bd%7D%2C%20%5Cquad%20y_m%20%3D%20%5Cfrac%7B%5Cleft%28%20m&amp;plus;%5Ctfrac%7B1%7D%7B2%7D%20%5Cright%29%20%5Clambda%20L%7D%7Bd%7D%2C%20%5Cquad%20m%20%3D%200%2C1%2C2%2C%20%5Cdots">
            <a:extLst>
              <a:ext uri="{FF2B5EF4-FFF2-40B4-BE49-F238E27FC236}">
                <a16:creationId xmlns:a16="http://schemas.microsoft.com/office/drawing/2014/main" id="{B228D98B-E8FA-41B6-973D-2947B44BA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92" y="6515768"/>
            <a:ext cx="2792951" cy="27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latex.codecogs.com/png.latex?%5Cdpi%7B300%7D%20w%20%3D%20%5Cfrac%7B2%5Clambda%20L%7D%7Ba%7D">
            <a:extLst>
              <a:ext uri="{FF2B5EF4-FFF2-40B4-BE49-F238E27FC236}">
                <a16:creationId xmlns:a16="http://schemas.microsoft.com/office/drawing/2014/main" id="{C3792F53-9E31-4B4B-8955-4258346E5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584" y="2951202"/>
            <a:ext cx="437210" cy="235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C5EEB910-C8B1-4286-93B4-95395A045E3A}"/>
              </a:ext>
            </a:extLst>
          </p:cNvPr>
          <p:cNvSpPr/>
          <p:nvPr/>
        </p:nvSpPr>
        <p:spPr>
          <a:xfrm>
            <a:off x="4052492" y="4573504"/>
            <a:ext cx="2173700" cy="261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6" name="Picture 12" descr="https://latex.codecogs.com/png.latex?%5Cdpi%7B300%7D%20w%20%3D%20%5Cfrac%7B2.44%20%5Clambda%20L%7D%7BD%7D">
            <a:extLst>
              <a:ext uri="{FF2B5EF4-FFF2-40B4-BE49-F238E27FC236}">
                <a16:creationId xmlns:a16="http://schemas.microsoft.com/office/drawing/2014/main" id="{F662DF4C-C339-4442-8B82-1C949F1ED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774" y="4590752"/>
            <a:ext cx="549314" cy="22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A3249-F56A-4B2E-9ACB-9C59DBC3A0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35144" y="4223370"/>
            <a:ext cx="682527" cy="718688"/>
          </a:xfrm>
          <a:prstGeom prst="rect">
            <a:avLst/>
          </a:prstGeom>
        </p:spPr>
      </p:pic>
      <p:pic>
        <p:nvPicPr>
          <p:cNvPr id="1038" name="Picture 14" descr="https://latex.codecogs.com/png.latex?%5Cdpi%7B300%7D%20d%20%5Csin%20%5Ctheta_m%20%3D%20m%5Clambda%2C%20%5Cquad%20y_m%20%3D%20L%20%5Ctan%20%5Ctheta_m%2C%20%5Cquad%20m%20%3D%200%2C%201%2C%202%2C%20%5Cdots">
            <a:extLst>
              <a:ext uri="{FF2B5EF4-FFF2-40B4-BE49-F238E27FC236}">
                <a16:creationId xmlns:a16="http://schemas.microsoft.com/office/drawing/2014/main" id="{497770FB-E108-4E1D-BC51-32184D3BF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517" y="6728339"/>
            <a:ext cx="2713981" cy="12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latex.codecogs.com/png.latex?%5Cdpi%7B300%7D%20%5Ctheta_p%20%3D%20p%5Cfrac%7B%5Clambda%7D%7Ba%7D%2C%20%5Cquad%20y_p%20%3D%20%5Cfrac%7Bp%5Clambda%20L%7D%7Ba%7D%2C%20p%20%3D%201%2C%202%2C%203%2C%20%5Cdots">
            <a:extLst>
              <a:ext uri="{FF2B5EF4-FFF2-40B4-BE49-F238E27FC236}">
                <a16:creationId xmlns:a16="http://schemas.microsoft.com/office/drawing/2014/main" id="{97F2C124-497D-427E-91BE-F739B8CB0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452" y="3877481"/>
            <a:ext cx="1657769" cy="22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78991DB-B31E-441B-9B95-A887E395D6BA}"/>
              </a:ext>
            </a:extLst>
          </p:cNvPr>
          <p:cNvSpPr txBox="1"/>
          <p:nvPr/>
        </p:nvSpPr>
        <p:spPr>
          <a:xfrm>
            <a:off x="138687" y="9757352"/>
            <a:ext cx="28248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E2E6EE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Joseph D. MacMillan | Licensed under CC BY-NC-SA 4.0.</a:t>
            </a:r>
          </a:p>
        </p:txBody>
      </p:sp>
    </p:spTree>
    <p:extLst>
      <p:ext uri="{BB962C8B-B14F-4D97-AF65-F5344CB8AC3E}">
        <p14:creationId xmlns:p14="http://schemas.microsoft.com/office/powerpoint/2010/main" val="4018716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000000"/>
      </a:dk1>
      <a:lt1>
        <a:srgbClr val="FFFFFF"/>
      </a:lt1>
      <a:dk2>
        <a:srgbClr val="353958"/>
      </a:dk2>
      <a:lt2>
        <a:srgbClr val="F5F5E5"/>
      </a:lt2>
      <a:accent1>
        <a:srgbClr val="E2E6EE"/>
      </a:accent1>
      <a:accent2>
        <a:srgbClr val="A6B727"/>
      </a:accent2>
      <a:accent3>
        <a:srgbClr val="FECD6A"/>
      </a:accent3>
      <a:accent4>
        <a:srgbClr val="838383"/>
      </a:accent4>
      <a:accent5>
        <a:srgbClr val="FFF6B3"/>
      </a:accent5>
      <a:accent6>
        <a:srgbClr val="E95151"/>
      </a:accent6>
      <a:hlink>
        <a:srgbClr val="F59E00"/>
      </a:hlink>
      <a:folHlink>
        <a:srgbClr val="B2B2B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10168</TotalTime>
  <Words>410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CMU Serif</vt:lpstr>
      <vt:lpstr>Lato</vt:lpstr>
      <vt:lpstr>Open Sans</vt:lpstr>
      <vt:lpstr>Symbol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MacMillan</dc:creator>
  <cp:lastModifiedBy>Joseph Macmillan</cp:lastModifiedBy>
  <cp:revision>236</cp:revision>
  <cp:lastPrinted>2022-07-31T23:00:46Z</cp:lastPrinted>
  <dcterms:created xsi:type="dcterms:W3CDTF">2020-05-21T00:40:48Z</dcterms:created>
  <dcterms:modified xsi:type="dcterms:W3CDTF">2025-01-13T20:15:52Z</dcterms:modified>
</cp:coreProperties>
</file>