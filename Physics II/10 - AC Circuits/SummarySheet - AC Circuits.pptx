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772400" cy="100584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4242"/>
    <a:srgbClr val="CD6565"/>
    <a:srgbClr val="003E6B"/>
    <a:srgbClr val="FF6A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6" autoAdjust="0"/>
    <p:restoredTop sz="96412" autoAdjust="0"/>
  </p:normalViewPr>
  <p:slideViewPr>
    <p:cSldViewPr snapToGrid="0">
      <p:cViewPr varScale="1">
        <p:scale>
          <a:sx n="78" d="100"/>
          <a:sy n="78" d="100"/>
        </p:scale>
        <p:origin x="27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12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01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96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51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58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9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2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8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9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1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9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7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471D33F-B71E-42DB-A818-35EFA2E7D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8"/>
            <a:ext cx="7772400" cy="7529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8D2B16-66A1-4B96-BF3A-902A1D3E7632}"/>
              </a:ext>
            </a:extLst>
          </p:cNvPr>
          <p:cNvSpPr/>
          <p:nvPr/>
        </p:nvSpPr>
        <p:spPr>
          <a:xfrm>
            <a:off x="187551" y="926372"/>
            <a:ext cx="3629277" cy="19626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BD49A6E-8118-4177-A754-48CAA8F000B1}"/>
              </a:ext>
            </a:extLst>
          </p:cNvPr>
          <p:cNvSpPr/>
          <p:nvPr/>
        </p:nvSpPr>
        <p:spPr>
          <a:xfrm>
            <a:off x="0" y="9459455"/>
            <a:ext cx="7772401" cy="598945"/>
          </a:xfrm>
          <a:prstGeom prst="rect">
            <a:avLst/>
          </a:prstGeom>
          <a:solidFill>
            <a:srgbClr val="3539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9FBA2A-A4DA-45DE-824D-C8A4E3DA7FD4}"/>
              </a:ext>
            </a:extLst>
          </p:cNvPr>
          <p:cNvSpPr txBox="1"/>
          <p:nvPr/>
        </p:nvSpPr>
        <p:spPr>
          <a:xfrm>
            <a:off x="304797" y="9510402"/>
            <a:ext cx="725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F6F6E6"/>
                </a:solidFill>
                <a:latin typeface="Lato" panose="020F050202020403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Electricity and Magnetism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B28B72-A2C5-4C2B-AC7F-1587274AAF8B}"/>
              </a:ext>
            </a:extLst>
          </p:cNvPr>
          <p:cNvSpPr txBox="1"/>
          <p:nvPr/>
        </p:nvSpPr>
        <p:spPr>
          <a:xfrm>
            <a:off x="520700" y="288667"/>
            <a:ext cx="725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6F6E6"/>
                </a:solidFill>
                <a:latin typeface="Lato" panose="020F050202020403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 Circuits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8A84BC-4389-4375-9601-0B97CCF476AC}"/>
              </a:ext>
            </a:extLst>
          </p:cNvPr>
          <p:cNvSpPr txBox="1"/>
          <p:nvPr/>
        </p:nvSpPr>
        <p:spPr>
          <a:xfrm>
            <a:off x="0" y="45857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E2E6EE"/>
                </a:solidFill>
                <a:latin typeface="Lato" panose="020F050202020403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643169C-21EA-48F4-A75F-ED7EDE07C655}"/>
              </a:ext>
            </a:extLst>
          </p:cNvPr>
          <p:cNvSpPr txBox="1"/>
          <p:nvPr/>
        </p:nvSpPr>
        <p:spPr>
          <a:xfrm flipH="1">
            <a:off x="194979" y="926651"/>
            <a:ext cx="3621844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AC Sources and Phasors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 alternating current (AC) generator produces an emf that oscillates sinusoidally in time with an angular frequency </a:t>
            </a:r>
            <a:r>
              <a:rPr lang="el-GR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ω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2</a:t>
            </a:r>
            <a:r>
              <a:rPr lang="el-GR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π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and peak emf </a:t>
            </a:r>
            <a:r>
              <a:rPr lang="en-US" sz="900" dirty="0">
                <a:latin typeface="Script MT Bold" panose="03040602040607080904" pitchFamily="66" charset="0"/>
                <a:ea typeface="CMU Serif" panose="02000603000000000000" pitchFamily="2" charset="0"/>
                <a:cs typeface="CMU Serif" panose="02000603000000000000" pitchFamily="2" charset="0"/>
              </a:rPr>
              <a:t>E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E524E0F-0B0B-4F1D-80B7-3657EA135B83}"/>
              </a:ext>
            </a:extLst>
          </p:cNvPr>
          <p:cNvSpPr/>
          <p:nvPr/>
        </p:nvSpPr>
        <p:spPr>
          <a:xfrm>
            <a:off x="191262" y="3025852"/>
            <a:ext cx="3629277" cy="25067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1E63331-A8DB-451B-B368-1F907531A4AB}"/>
              </a:ext>
            </a:extLst>
          </p:cNvPr>
          <p:cNvSpPr/>
          <p:nvPr/>
        </p:nvSpPr>
        <p:spPr>
          <a:xfrm>
            <a:off x="255037" y="1734718"/>
            <a:ext cx="2344390" cy="2143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https://latex.codecogs.com/png.latex?%5Cdpi%7B200%7D%20%5Cmathcal%7BE%7D%20%3D%20%5Cmathcal%7BE%7D_0%20%5Ccos%20%5Comega%20t">
            <a:extLst>
              <a:ext uri="{FF2B5EF4-FFF2-40B4-BE49-F238E27FC236}">
                <a16:creationId xmlns:a16="http://schemas.microsoft.com/office/drawing/2014/main" id="{F909E533-1BD1-4325-9162-EC0379570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315" y="1799003"/>
            <a:ext cx="606667" cy="9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9EF7E7C-BE94-4D68-A58A-80143DDE060D}"/>
              </a:ext>
            </a:extLst>
          </p:cNvPr>
          <p:cNvSpPr txBox="1"/>
          <p:nvPr/>
        </p:nvSpPr>
        <p:spPr>
          <a:xfrm flipH="1">
            <a:off x="197944" y="1958347"/>
            <a:ext cx="2606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emf, voltage across circuit elements, and current through circuit elements all oscillate in time and can be represented by a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phasor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  A phasor is a vector that rotates counterclockwise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6D3BF0A-464B-40F7-A433-33A56B5C9560}"/>
              </a:ext>
            </a:extLst>
          </p:cNvPr>
          <p:cNvGrpSpPr/>
          <p:nvPr/>
        </p:nvGrpSpPr>
        <p:grpSpPr>
          <a:xfrm>
            <a:off x="2729773" y="1734125"/>
            <a:ext cx="1140841" cy="731055"/>
            <a:chOff x="4064073" y="3595396"/>
            <a:chExt cx="1140841" cy="731055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EBCDD8D-E933-46A5-834A-A17B6F5E1A12}"/>
                </a:ext>
              </a:extLst>
            </p:cNvPr>
            <p:cNvCxnSpPr>
              <a:cxnSpLocks/>
            </p:cNvCxnSpPr>
            <p:nvPr/>
          </p:nvCxnSpPr>
          <p:spPr>
            <a:xfrm>
              <a:off x="4460031" y="3595396"/>
              <a:ext cx="0" cy="73105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73A7C9B-77EF-4B8C-AA46-BCDC2D3A68C3}"/>
                </a:ext>
              </a:extLst>
            </p:cNvPr>
            <p:cNvCxnSpPr>
              <a:cxnSpLocks/>
            </p:cNvCxnSpPr>
            <p:nvPr/>
          </p:nvCxnSpPr>
          <p:spPr>
            <a:xfrm>
              <a:off x="4064073" y="4049486"/>
              <a:ext cx="893592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48C1645-4719-499B-9ECD-2734FD9656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0031" y="3662573"/>
              <a:ext cx="410496" cy="386913"/>
            </a:xfrm>
            <a:prstGeom prst="straightConnector1">
              <a:avLst/>
            </a:prstGeom>
            <a:ln w="31750">
              <a:solidFill>
                <a:schemeClr val="tx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1FECB2-7224-442F-8DCD-45A7EF0D6D91}"/>
                </a:ext>
              </a:extLst>
            </p:cNvPr>
            <p:cNvSpPr/>
            <p:nvPr/>
          </p:nvSpPr>
          <p:spPr>
            <a:xfrm>
              <a:off x="4490636" y="3869601"/>
              <a:ext cx="300082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ω</a:t>
              </a:r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t</a:t>
              </a:r>
              <a:endParaRPr lang="en-US" sz="900" dirty="0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F6F960EE-37AA-43B9-9DD5-A51AD74278BE}"/>
                </a:ext>
              </a:extLst>
            </p:cNvPr>
            <p:cNvSpPr/>
            <p:nvPr/>
          </p:nvSpPr>
          <p:spPr>
            <a:xfrm rot="2471392">
              <a:off x="4463054" y="3809642"/>
              <a:ext cx="292908" cy="288621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8121DDA-5000-4C93-9750-4C273BDC5320}"/>
                </a:ext>
              </a:extLst>
            </p:cNvPr>
            <p:cNvCxnSpPr>
              <a:cxnSpLocks/>
            </p:cNvCxnSpPr>
            <p:nvPr/>
          </p:nvCxnSpPr>
          <p:spPr>
            <a:xfrm>
              <a:off x="4867568" y="3665532"/>
              <a:ext cx="0" cy="383954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8F3F1DF-5870-416E-9098-1922D5422B93}"/>
                </a:ext>
              </a:extLst>
            </p:cNvPr>
            <p:cNvSpPr/>
            <p:nvPr/>
          </p:nvSpPr>
          <p:spPr>
            <a:xfrm>
              <a:off x="4536141" y="4020403"/>
              <a:ext cx="668773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value at </a:t>
              </a:r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t</a:t>
              </a:r>
              <a:endParaRPr lang="en-US" sz="900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F982568-0C35-4789-9B8D-6B11089D1E64}"/>
              </a:ext>
            </a:extLst>
          </p:cNvPr>
          <p:cNvSpPr txBox="1"/>
          <p:nvPr/>
        </p:nvSpPr>
        <p:spPr>
          <a:xfrm flipH="1">
            <a:off x="194977" y="2519697"/>
            <a:ext cx="357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about the origin at angular frequency </a:t>
            </a:r>
            <a:r>
              <a:rPr lang="el-GR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ω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 The instantaneous value of the quantity is the projection of the phasor on the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-axis.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74A218-CE64-447A-A43F-92399041A822}"/>
              </a:ext>
            </a:extLst>
          </p:cNvPr>
          <p:cNvSpPr/>
          <p:nvPr/>
        </p:nvSpPr>
        <p:spPr>
          <a:xfrm>
            <a:off x="3956868" y="928294"/>
            <a:ext cx="3629277" cy="7345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D5637F-FD68-49C0-ACB3-35DA5880ECCB}"/>
              </a:ext>
            </a:extLst>
          </p:cNvPr>
          <p:cNvSpPr txBox="1"/>
          <p:nvPr/>
        </p:nvSpPr>
        <p:spPr>
          <a:xfrm flipH="1">
            <a:off x="3950989" y="928293"/>
            <a:ext cx="271142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One Element Circuits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Resistor Circuit</a:t>
            </a: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single resistor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connected to an oscillatory emf source </a:t>
            </a:r>
            <a:r>
              <a:rPr lang="en-US" sz="900" dirty="0">
                <a:latin typeface="Script MT Bold" panose="03040602040607080904" pitchFamily="66" charset="0"/>
                <a:ea typeface="CMU Serif" panose="02000603000000000000" pitchFamily="2" charset="0"/>
                <a:cs typeface="CMU Serif" panose="02000603000000000000" pitchFamily="2" charset="0"/>
              </a:rPr>
              <a:t>E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has an instantaneous voltage given by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where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the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peak voltage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  The instantaneous current through the resistor is 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where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the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peak current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  The current through and voltage across the resistor are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 phase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; the peaks occur at the same time.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Capacitor Circuit</a:t>
            </a: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single capacitor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connected to an oscillatory emf source </a:t>
            </a:r>
            <a:r>
              <a:rPr lang="en-US" sz="900" dirty="0">
                <a:latin typeface="Script MT Bold" panose="03040602040607080904" pitchFamily="66" charset="0"/>
                <a:ea typeface="CMU Serif" panose="02000603000000000000" pitchFamily="2" charset="0"/>
                <a:cs typeface="CMU Serif" panose="02000603000000000000" pitchFamily="2" charset="0"/>
              </a:rPr>
              <a:t>E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has an instantaneous voltage given by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instantaneous current through the resistor is 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where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el-GR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ω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CV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the peak current.  The current through and voltage across the capacitor are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out of phase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; the current leads the voltage by </a:t>
            </a:r>
            <a:r>
              <a:rPr lang="el-GR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π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/2 (90</a:t>
            </a:r>
            <a:r>
              <a:rPr lang="en-US" sz="900" dirty="0"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°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).</a:t>
            </a:r>
          </a:p>
        </p:txBody>
      </p:sp>
      <p:pic>
        <p:nvPicPr>
          <p:cNvPr id="1030" name="Picture 6" descr="https://latex.codecogs.com/png.latex?%5Cdpi%7B200%7D%20v_%5Ctext%7BR%7D%20%3D%20V_%5Ctext%7BR%7D%20%5Ccos%20%5Comega%20t">
            <a:extLst>
              <a:ext uri="{FF2B5EF4-FFF2-40B4-BE49-F238E27FC236}">
                <a16:creationId xmlns:a16="http://schemas.microsoft.com/office/drawing/2014/main" id="{62B0996E-55CC-4DA8-B680-62B5F0D9A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368" y="1795956"/>
            <a:ext cx="676667" cy="9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50858FB-5903-406E-A4C7-93E265F0CBC5}"/>
              </a:ext>
            </a:extLst>
          </p:cNvPr>
          <p:cNvGrpSpPr/>
          <p:nvPr/>
        </p:nvGrpSpPr>
        <p:grpSpPr>
          <a:xfrm>
            <a:off x="6614118" y="1376255"/>
            <a:ext cx="904543" cy="648158"/>
            <a:chOff x="4018181" y="4394095"/>
            <a:chExt cx="904543" cy="648158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B7A7933-A5DA-4EDC-87E9-83AD6F64B06C}"/>
                </a:ext>
              </a:extLst>
            </p:cNvPr>
            <p:cNvSpPr/>
            <p:nvPr/>
          </p:nvSpPr>
          <p:spPr>
            <a:xfrm>
              <a:off x="4118643" y="4394095"/>
              <a:ext cx="740323" cy="64815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FB09EC6-0F6C-484A-85D3-4E3F2BEEE393}"/>
                </a:ext>
              </a:extLst>
            </p:cNvPr>
            <p:cNvSpPr txBox="1"/>
            <p:nvPr/>
          </p:nvSpPr>
          <p:spPr>
            <a:xfrm>
              <a:off x="4569618" y="4587394"/>
              <a:ext cx="30160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F28FD9A-5F24-4944-9A02-02FA06B24CAF}"/>
                </a:ext>
              </a:extLst>
            </p:cNvPr>
            <p:cNvGrpSpPr/>
            <p:nvPr/>
          </p:nvGrpSpPr>
          <p:grpSpPr>
            <a:xfrm rot="5400000">
              <a:off x="4692973" y="4651629"/>
              <a:ext cx="331985" cy="127517"/>
              <a:chOff x="4077841" y="7488950"/>
              <a:chExt cx="601735" cy="164521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BE65749-065C-482E-B7BD-2D274B8439E0}"/>
                  </a:ext>
                </a:extLst>
              </p:cNvPr>
              <p:cNvSpPr/>
              <p:nvPr/>
            </p:nvSpPr>
            <p:spPr>
              <a:xfrm>
                <a:off x="4077841" y="7488950"/>
                <a:ext cx="601735" cy="164521"/>
              </a:xfrm>
              <a:prstGeom prst="rect">
                <a:avLst/>
              </a:prstGeom>
              <a:solidFill>
                <a:schemeClr val="bg2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981DB0B-A05F-4AEA-8430-B08095FF841D}"/>
                  </a:ext>
                </a:extLst>
              </p:cNvPr>
              <p:cNvGrpSpPr/>
              <p:nvPr/>
            </p:nvGrpSpPr>
            <p:grpSpPr>
              <a:xfrm>
                <a:off x="4077841" y="7493587"/>
                <a:ext cx="601735" cy="155212"/>
                <a:chOff x="4409241" y="7432471"/>
                <a:chExt cx="2635720" cy="676105"/>
              </a:xfrm>
            </p:grpSpPr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127E6CF1-BC1D-4702-9269-79FBA844F7D1}"/>
                    </a:ext>
                  </a:extLst>
                </p:cNvPr>
                <p:cNvCxnSpPr/>
                <p:nvPr/>
              </p:nvCxnSpPr>
              <p:spPr>
                <a:xfrm flipV="1">
                  <a:off x="4409241" y="7456395"/>
                  <a:ext cx="215153" cy="35634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A214328C-24E7-4C6C-BAE6-243C927007F7}"/>
                    </a:ext>
                  </a:extLst>
                </p:cNvPr>
                <p:cNvCxnSpPr/>
                <p:nvPr/>
              </p:nvCxnSpPr>
              <p:spPr>
                <a:xfrm>
                  <a:off x="4624394" y="7456395"/>
                  <a:ext cx="317400" cy="6521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2C3F009C-F620-4579-BFA0-7F7B8B60D7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41794" y="7455859"/>
                  <a:ext cx="317400" cy="6521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57A1F836-8558-4D1F-80D0-0D524F288772}"/>
                    </a:ext>
                  </a:extLst>
                </p:cNvPr>
                <p:cNvCxnSpPr/>
                <p:nvPr/>
              </p:nvCxnSpPr>
              <p:spPr>
                <a:xfrm>
                  <a:off x="5259194" y="7448063"/>
                  <a:ext cx="317400" cy="6521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FC12C3D3-2B7D-41DB-8BB4-8DDD41DB0D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76594" y="7440267"/>
                  <a:ext cx="317400" cy="6521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8970F065-0EA4-4E77-88ED-44900C1CF9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07732" y="7439195"/>
                  <a:ext cx="317400" cy="6521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B412DF4F-6E56-422D-924B-6D195F09DF70}"/>
                    </a:ext>
                  </a:extLst>
                </p:cNvPr>
                <p:cNvCxnSpPr/>
                <p:nvPr/>
              </p:nvCxnSpPr>
              <p:spPr>
                <a:xfrm>
                  <a:off x="5885726" y="7432471"/>
                  <a:ext cx="317400" cy="6521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A9EBCF38-E0CF-420D-AF07-D4F2DE001D75}"/>
                    </a:ext>
                  </a:extLst>
                </p:cNvPr>
                <p:cNvCxnSpPr/>
                <p:nvPr/>
              </p:nvCxnSpPr>
              <p:spPr>
                <a:xfrm>
                  <a:off x="6525132" y="7450497"/>
                  <a:ext cx="317400" cy="6521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749BD90-F8DA-4D5C-B1A5-3B05C1B16E91}"/>
                    </a:ext>
                  </a:extLst>
                </p:cNvPr>
                <p:cNvCxnSpPr/>
                <p:nvPr/>
              </p:nvCxnSpPr>
              <p:spPr>
                <a:xfrm flipV="1">
                  <a:off x="6829808" y="7737174"/>
                  <a:ext cx="215153" cy="35634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BF9A851-0578-4F3C-ABEE-F08ABCC773FE}"/>
                </a:ext>
              </a:extLst>
            </p:cNvPr>
            <p:cNvGrpSpPr/>
            <p:nvPr/>
          </p:nvGrpSpPr>
          <p:grpSpPr>
            <a:xfrm>
              <a:off x="4018181" y="4603092"/>
              <a:ext cx="196087" cy="196087"/>
              <a:chOff x="4818705" y="6976189"/>
              <a:chExt cx="196087" cy="196087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C1ADB7F-426D-49BA-A79A-828549C1FC7C}"/>
                  </a:ext>
                </a:extLst>
              </p:cNvPr>
              <p:cNvSpPr/>
              <p:nvPr/>
            </p:nvSpPr>
            <p:spPr>
              <a:xfrm>
                <a:off x="4818705" y="6976189"/>
                <a:ext cx="196087" cy="19608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88836799-C53F-434F-94D7-BC2BFCC47D47}"/>
                  </a:ext>
                </a:extLst>
              </p:cNvPr>
              <p:cNvSpPr/>
              <p:nvPr/>
            </p:nvSpPr>
            <p:spPr>
              <a:xfrm>
                <a:off x="4855408" y="7052786"/>
                <a:ext cx="127518" cy="45719"/>
              </a:xfrm>
              <a:custGeom>
                <a:avLst/>
                <a:gdLst>
                  <a:gd name="connsiteX0" fmla="*/ 0 w 527539"/>
                  <a:gd name="connsiteY0" fmla="*/ 188165 h 376330"/>
                  <a:gd name="connsiteX1" fmla="*/ 161779 w 527539"/>
                  <a:gd name="connsiteY1" fmla="*/ 5285 h 376330"/>
                  <a:gd name="connsiteX2" fmla="*/ 372794 w 527539"/>
                  <a:gd name="connsiteY2" fmla="*/ 371045 h 376330"/>
                  <a:gd name="connsiteX3" fmla="*/ 527539 w 527539"/>
                  <a:gd name="connsiteY3" fmla="*/ 188165 h 376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7539" h="376330">
                    <a:moveTo>
                      <a:pt x="0" y="188165"/>
                    </a:moveTo>
                    <a:cubicBezTo>
                      <a:pt x="49823" y="81485"/>
                      <a:pt x="99647" y="-25195"/>
                      <a:pt x="161779" y="5285"/>
                    </a:cubicBezTo>
                    <a:cubicBezTo>
                      <a:pt x="223911" y="35765"/>
                      <a:pt x="311834" y="340565"/>
                      <a:pt x="372794" y="371045"/>
                    </a:cubicBezTo>
                    <a:cubicBezTo>
                      <a:pt x="433754" y="401525"/>
                      <a:pt x="480646" y="294845"/>
                      <a:pt x="527539" y="18816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CD92638-0491-400F-9FA3-EC2D0EDE9109}"/>
                </a:ext>
              </a:extLst>
            </p:cNvPr>
            <p:cNvSpPr/>
            <p:nvPr/>
          </p:nvSpPr>
          <p:spPr>
            <a:xfrm>
              <a:off x="4195881" y="4565625"/>
              <a:ext cx="258404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50" dirty="0">
                  <a:latin typeface="Script MT Bold" panose="03040602040607080904" pitchFamily="66" charset="0"/>
                  <a:ea typeface="CMU Serif" panose="02000603000000000000" pitchFamily="2" charset="0"/>
                  <a:cs typeface="CMU Serif" panose="02000603000000000000" pitchFamily="2" charset="0"/>
                </a:rPr>
                <a:t>E</a:t>
              </a:r>
              <a:endParaRPr lang="en-US" sz="1050" dirty="0"/>
            </a:p>
          </p:txBody>
        </p:sp>
      </p:grpSp>
      <p:pic>
        <p:nvPicPr>
          <p:cNvPr id="1034" name="Picture 10" descr="https://latex.codecogs.com/png.latex?%5Cdpi%7B200%7D%20i_%5Ctext%7BR%7D%20%3D%20I_%5Ctext%7BR%7D%20%5Ccos%20%5Comega%20t">
            <a:extLst>
              <a:ext uri="{FF2B5EF4-FFF2-40B4-BE49-F238E27FC236}">
                <a16:creationId xmlns:a16="http://schemas.microsoft.com/office/drawing/2014/main" id="{273C6676-1516-4672-84F0-F5BE6CF3B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5034" y="2340604"/>
            <a:ext cx="643333" cy="9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192F66FC-6B50-4A78-B47B-C866399CEB11}"/>
              </a:ext>
            </a:extLst>
          </p:cNvPr>
          <p:cNvGrpSpPr/>
          <p:nvPr/>
        </p:nvGrpSpPr>
        <p:grpSpPr>
          <a:xfrm>
            <a:off x="6547463" y="2020792"/>
            <a:ext cx="1428130" cy="851162"/>
            <a:chOff x="2610470" y="4876800"/>
            <a:chExt cx="1428130" cy="851162"/>
          </a:xfrm>
        </p:grpSpPr>
        <p:sp>
          <p:nvSpPr>
            <p:cNvPr id="29" name="AutoShape 8" descr="https://latex.codecogs.com/png.latex?%5Cdpi%7B200%7D%20i_%5Ctext%7BR%7D%20%3D%20I_%5Ctext%7BR%7D%20%5Ccos%20%5Comega%20t">
              <a:extLst>
                <a:ext uri="{FF2B5EF4-FFF2-40B4-BE49-F238E27FC236}">
                  <a16:creationId xmlns:a16="http://schemas.microsoft.com/office/drawing/2014/main" id="{F74E2915-AD3F-4803-AE51-58996604AE3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33800" y="48768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6A79968-2ACD-4164-A369-08249E1DF302}"/>
                </a:ext>
              </a:extLst>
            </p:cNvPr>
            <p:cNvCxnSpPr>
              <a:cxnSpLocks/>
            </p:cNvCxnSpPr>
            <p:nvPr/>
          </p:nvCxnSpPr>
          <p:spPr>
            <a:xfrm>
              <a:off x="3006428" y="4996907"/>
              <a:ext cx="0" cy="73105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C4FFEC6-0A8C-4A64-8C1E-5CC300820E67}"/>
                </a:ext>
              </a:extLst>
            </p:cNvPr>
            <p:cNvCxnSpPr>
              <a:cxnSpLocks/>
            </p:cNvCxnSpPr>
            <p:nvPr/>
          </p:nvCxnSpPr>
          <p:spPr>
            <a:xfrm>
              <a:off x="2610470" y="5450997"/>
              <a:ext cx="893592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11F4E2ED-5BDA-4036-A7D0-6B94A4E378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6428" y="5064084"/>
              <a:ext cx="410496" cy="386913"/>
            </a:xfrm>
            <a:prstGeom prst="straightConnector1">
              <a:avLst/>
            </a:prstGeom>
            <a:ln w="31750">
              <a:solidFill>
                <a:schemeClr val="tx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DF759CC-224E-4D85-BFFE-F12A85620B78}"/>
                </a:ext>
              </a:extLst>
            </p:cNvPr>
            <p:cNvCxnSpPr>
              <a:cxnSpLocks/>
            </p:cNvCxnSpPr>
            <p:nvPr/>
          </p:nvCxnSpPr>
          <p:spPr>
            <a:xfrm>
              <a:off x="3413965" y="5067043"/>
              <a:ext cx="0" cy="383954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5B0C3F9-F39E-4D21-A678-AC7D8F7E0596}"/>
                </a:ext>
              </a:extLst>
            </p:cNvPr>
            <p:cNvSpPr/>
            <p:nvPr/>
          </p:nvSpPr>
          <p:spPr>
            <a:xfrm>
              <a:off x="3282083" y="5402758"/>
              <a:ext cx="301686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i="1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v</a:t>
              </a:r>
              <a:r>
                <a:rPr lang="en-US" sz="900" baseline="-25000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</a:t>
              </a:r>
              <a:endParaRPr lang="en-US" sz="900" baseline="-25000" dirty="0"/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9A1B0409-2A52-498A-B5F9-9D4774A3BF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1262" y="5212546"/>
              <a:ext cx="248804" cy="234511"/>
            </a:xfrm>
            <a:prstGeom prst="straightConnector1">
              <a:avLst/>
            </a:prstGeom>
            <a:ln w="31750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9871895-B05D-4D0F-8DDB-3CCF2C2ED394}"/>
                </a:ext>
              </a:extLst>
            </p:cNvPr>
            <p:cNvSpPr/>
            <p:nvPr/>
          </p:nvSpPr>
          <p:spPr>
            <a:xfrm>
              <a:off x="3120019" y="5401920"/>
              <a:ext cx="276038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i="1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i</a:t>
              </a:r>
              <a:r>
                <a:rPr lang="en-US" sz="900" baseline="-25000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</a:t>
              </a:r>
              <a:endParaRPr lang="en-US" sz="900" baseline="-25000" dirty="0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15EE07B-3AD5-40A9-9D0D-318F17774B70}"/>
                </a:ext>
              </a:extLst>
            </p:cNvPr>
            <p:cNvCxnSpPr>
              <a:cxnSpLocks/>
            </p:cNvCxnSpPr>
            <p:nvPr/>
          </p:nvCxnSpPr>
          <p:spPr>
            <a:xfrm>
              <a:off x="3259916" y="5230188"/>
              <a:ext cx="0" cy="216869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71A3B7D-37D2-486F-9E35-27DEF12596F7}"/>
                </a:ext>
              </a:extLst>
            </p:cNvPr>
            <p:cNvSpPr/>
            <p:nvPr/>
          </p:nvSpPr>
          <p:spPr>
            <a:xfrm>
              <a:off x="3278625" y="4890111"/>
              <a:ext cx="32573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V</a:t>
              </a:r>
              <a:r>
                <a:rPr lang="en-US" sz="9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</a:t>
              </a:r>
              <a:endParaRPr lang="en-US" sz="900" baseline="-25000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400027C-A831-4743-BFB6-14C5D80541AF}"/>
                </a:ext>
              </a:extLst>
            </p:cNvPr>
            <p:cNvSpPr/>
            <p:nvPr/>
          </p:nvSpPr>
          <p:spPr>
            <a:xfrm>
              <a:off x="2958568" y="5058617"/>
              <a:ext cx="285656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I</a:t>
              </a:r>
              <a:r>
                <a:rPr lang="en-US" sz="9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</a:t>
              </a:r>
              <a:endParaRPr lang="en-US" sz="900" baseline="-25000" dirty="0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27F1E7C-FD53-462D-B162-7FFAE42C8EFB}"/>
              </a:ext>
            </a:extLst>
          </p:cNvPr>
          <p:cNvGrpSpPr/>
          <p:nvPr/>
        </p:nvGrpSpPr>
        <p:grpSpPr>
          <a:xfrm>
            <a:off x="3538377" y="3748352"/>
            <a:ext cx="226177" cy="93540"/>
            <a:chOff x="6011613" y="8416520"/>
            <a:chExt cx="258094" cy="49797"/>
          </a:xfrm>
        </p:grpSpPr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2177DDF-F6F6-4A50-8EA4-51A9FEE8BDC6}"/>
                </a:ext>
              </a:extLst>
            </p:cNvPr>
            <p:cNvCxnSpPr>
              <a:cxnSpLocks/>
            </p:cNvCxnSpPr>
            <p:nvPr/>
          </p:nvCxnSpPr>
          <p:spPr>
            <a:xfrm>
              <a:off x="6011613" y="8416520"/>
              <a:ext cx="25809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EB14AFC2-EA57-498B-902B-BE1CE201DCF6}"/>
                </a:ext>
              </a:extLst>
            </p:cNvPr>
            <p:cNvCxnSpPr>
              <a:cxnSpLocks/>
            </p:cNvCxnSpPr>
            <p:nvPr/>
          </p:nvCxnSpPr>
          <p:spPr>
            <a:xfrm>
              <a:off x="6017770" y="8466317"/>
              <a:ext cx="25193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DFBE6BD-9837-4080-B271-5D780B7532F6}"/>
                </a:ext>
              </a:extLst>
            </p:cNvPr>
            <p:cNvSpPr/>
            <p:nvPr/>
          </p:nvSpPr>
          <p:spPr>
            <a:xfrm>
              <a:off x="6011613" y="8418915"/>
              <a:ext cx="258094" cy="458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78E328E-442F-4446-9A8A-6269C0DB461B}"/>
              </a:ext>
            </a:extLst>
          </p:cNvPr>
          <p:cNvGrpSpPr/>
          <p:nvPr/>
        </p:nvGrpSpPr>
        <p:grpSpPr>
          <a:xfrm>
            <a:off x="6631153" y="3310816"/>
            <a:ext cx="1361475" cy="1030022"/>
            <a:chOff x="6614118" y="3202765"/>
            <a:chExt cx="1361475" cy="1030022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B9F3DC3-B1E9-4DFC-BC35-65EA47F9123B}"/>
                </a:ext>
              </a:extLst>
            </p:cNvPr>
            <p:cNvSpPr/>
            <p:nvPr/>
          </p:nvSpPr>
          <p:spPr>
            <a:xfrm>
              <a:off x="6714580" y="3202765"/>
              <a:ext cx="740323" cy="64815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DF0BF1B-2F82-43EB-BF43-3A9C09DB0F67}"/>
                </a:ext>
              </a:extLst>
            </p:cNvPr>
            <p:cNvSpPr txBox="1"/>
            <p:nvPr/>
          </p:nvSpPr>
          <p:spPr>
            <a:xfrm>
              <a:off x="7120955" y="3400524"/>
              <a:ext cx="30160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C</a:t>
              </a: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91FDFDD0-34EC-49A2-84F5-B4853EAEE309}"/>
                </a:ext>
              </a:extLst>
            </p:cNvPr>
            <p:cNvGrpSpPr/>
            <p:nvPr/>
          </p:nvGrpSpPr>
          <p:grpSpPr>
            <a:xfrm>
              <a:off x="6614118" y="3411762"/>
              <a:ext cx="196087" cy="196087"/>
              <a:chOff x="4818705" y="6976189"/>
              <a:chExt cx="196087" cy="196087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A513B582-F0CD-4984-8BC2-710E6CD4E25A}"/>
                  </a:ext>
                </a:extLst>
              </p:cNvPr>
              <p:cNvSpPr/>
              <p:nvPr/>
            </p:nvSpPr>
            <p:spPr>
              <a:xfrm>
                <a:off x="4818705" y="6976189"/>
                <a:ext cx="196087" cy="19608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6663EBE0-0917-4785-BF89-50A1B12E33A4}"/>
                  </a:ext>
                </a:extLst>
              </p:cNvPr>
              <p:cNvSpPr/>
              <p:nvPr/>
            </p:nvSpPr>
            <p:spPr>
              <a:xfrm>
                <a:off x="4855408" y="7052786"/>
                <a:ext cx="127518" cy="45719"/>
              </a:xfrm>
              <a:custGeom>
                <a:avLst/>
                <a:gdLst>
                  <a:gd name="connsiteX0" fmla="*/ 0 w 527539"/>
                  <a:gd name="connsiteY0" fmla="*/ 188165 h 376330"/>
                  <a:gd name="connsiteX1" fmla="*/ 161779 w 527539"/>
                  <a:gd name="connsiteY1" fmla="*/ 5285 h 376330"/>
                  <a:gd name="connsiteX2" fmla="*/ 372794 w 527539"/>
                  <a:gd name="connsiteY2" fmla="*/ 371045 h 376330"/>
                  <a:gd name="connsiteX3" fmla="*/ 527539 w 527539"/>
                  <a:gd name="connsiteY3" fmla="*/ 188165 h 376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7539" h="376330">
                    <a:moveTo>
                      <a:pt x="0" y="188165"/>
                    </a:moveTo>
                    <a:cubicBezTo>
                      <a:pt x="49823" y="81485"/>
                      <a:pt x="99647" y="-25195"/>
                      <a:pt x="161779" y="5285"/>
                    </a:cubicBezTo>
                    <a:cubicBezTo>
                      <a:pt x="223911" y="35765"/>
                      <a:pt x="311834" y="340565"/>
                      <a:pt x="372794" y="371045"/>
                    </a:cubicBezTo>
                    <a:cubicBezTo>
                      <a:pt x="433754" y="401525"/>
                      <a:pt x="480646" y="294845"/>
                      <a:pt x="527539" y="18816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2261874-E4D7-459B-946D-AB5BB64F12E1}"/>
                </a:ext>
              </a:extLst>
            </p:cNvPr>
            <p:cNvSpPr/>
            <p:nvPr/>
          </p:nvSpPr>
          <p:spPr>
            <a:xfrm>
              <a:off x="6791818" y="3374295"/>
              <a:ext cx="258404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50" dirty="0">
                  <a:latin typeface="Script MT Bold" panose="03040602040607080904" pitchFamily="66" charset="0"/>
                  <a:ea typeface="CMU Serif" panose="02000603000000000000" pitchFamily="2" charset="0"/>
                  <a:cs typeface="CMU Serif" panose="02000603000000000000" pitchFamily="2" charset="0"/>
                </a:rPr>
                <a:t>E</a:t>
              </a:r>
              <a:endParaRPr lang="en-US" sz="1050" dirty="0"/>
            </a:p>
          </p:txBody>
        </p:sp>
        <p:sp>
          <p:nvSpPr>
            <p:cNvPr id="106" name="AutoShape 8" descr="https://latex.codecogs.com/png.latex?%5Cdpi%7B200%7D%20i_%5Ctext%7BR%7D%20%3D%20I_%5Ctext%7BR%7D%20%5Ccos%20%5Comega%20t">
              <a:extLst>
                <a:ext uri="{FF2B5EF4-FFF2-40B4-BE49-F238E27FC236}">
                  <a16:creationId xmlns:a16="http://schemas.microsoft.com/office/drawing/2014/main" id="{CAF3AD89-A55F-4A82-B7DF-03C3696E340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670793" y="3927987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2BA54CCB-6785-4029-A2A2-064B254D6A27}"/>
                </a:ext>
              </a:extLst>
            </p:cNvPr>
            <p:cNvGrpSpPr/>
            <p:nvPr/>
          </p:nvGrpSpPr>
          <p:grpSpPr>
            <a:xfrm>
              <a:off x="7340894" y="3458117"/>
              <a:ext cx="226177" cy="93540"/>
              <a:chOff x="6011613" y="8416520"/>
              <a:chExt cx="258094" cy="49797"/>
            </a:xfrm>
          </p:grpSpPr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A3F9DB58-24E5-42F8-BB5F-49169DEA5F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1613" y="8416520"/>
                <a:ext cx="258094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30830497-489B-48E4-A36C-A3BB1EF2F2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7770" y="8466317"/>
                <a:ext cx="251937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4024900D-7A83-427B-856D-513DA89CCAE1}"/>
                  </a:ext>
                </a:extLst>
              </p:cNvPr>
              <p:cNvSpPr/>
              <p:nvPr/>
            </p:nvSpPr>
            <p:spPr>
              <a:xfrm>
                <a:off x="6011613" y="8419064"/>
                <a:ext cx="258094" cy="4571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F3AFC461-CDFC-4450-BB65-1A2A342D60E4}"/>
              </a:ext>
            </a:extLst>
          </p:cNvPr>
          <p:cNvGrpSpPr/>
          <p:nvPr/>
        </p:nvGrpSpPr>
        <p:grpSpPr>
          <a:xfrm>
            <a:off x="6607530" y="3995559"/>
            <a:ext cx="993885" cy="837851"/>
            <a:chOff x="2791451" y="6651682"/>
            <a:chExt cx="993885" cy="837851"/>
          </a:xfrm>
        </p:grpSpPr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9CF761E-33B6-4795-869C-2EA121929AAE}"/>
                </a:ext>
              </a:extLst>
            </p:cNvPr>
            <p:cNvCxnSpPr>
              <a:cxnSpLocks/>
            </p:cNvCxnSpPr>
            <p:nvPr/>
          </p:nvCxnSpPr>
          <p:spPr>
            <a:xfrm>
              <a:off x="3187409" y="6758478"/>
              <a:ext cx="0" cy="73105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9B50F7E9-343C-4ABD-80EB-16F42F4C9C7F}"/>
                </a:ext>
              </a:extLst>
            </p:cNvPr>
            <p:cNvCxnSpPr>
              <a:cxnSpLocks/>
            </p:cNvCxnSpPr>
            <p:nvPr/>
          </p:nvCxnSpPr>
          <p:spPr>
            <a:xfrm>
              <a:off x="2791451" y="7212568"/>
              <a:ext cx="893592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41D0E637-7C2C-40EF-8FEE-92CBA7D1B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7409" y="6825655"/>
              <a:ext cx="410496" cy="386913"/>
            </a:xfrm>
            <a:prstGeom prst="straightConnector1">
              <a:avLst/>
            </a:prstGeom>
            <a:ln w="31750">
              <a:solidFill>
                <a:schemeClr val="tx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E6BABDE-DE79-4613-A2B8-044AC7CBCD95}"/>
                </a:ext>
              </a:extLst>
            </p:cNvPr>
            <p:cNvCxnSpPr>
              <a:cxnSpLocks/>
            </p:cNvCxnSpPr>
            <p:nvPr/>
          </p:nvCxnSpPr>
          <p:spPr>
            <a:xfrm>
              <a:off x="3594946" y="6828614"/>
              <a:ext cx="0" cy="383954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2DF005F-6C42-40DB-9193-736A432B61E3}"/>
                </a:ext>
              </a:extLst>
            </p:cNvPr>
            <p:cNvSpPr/>
            <p:nvPr/>
          </p:nvSpPr>
          <p:spPr>
            <a:xfrm>
              <a:off x="3463064" y="7164329"/>
              <a:ext cx="301686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i="1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v</a:t>
              </a:r>
              <a:r>
                <a:rPr lang="en-US" sz="900" baseline="-25000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C</a:t>
              </a:r>
              <a:endParaRPr lang="en-US" sz="900" baseline="-25000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3012E570-2553-4EAE-98D1-3886A8C57743}"/>
                </a:ext>
              </a:extLst>
            </p:cNvPr>
            <p:cNvSpPr/>
            <p:nvPr/>
          </p:nvSpPr>
          <p:spPr>
            <a:xfrm>
              <a:off x="2816050" y="7161029"/>
              <a:ext cx="276038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i="1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i</a:t>
              </a:r>
              <a:r>
                <a:rPr lang="en-US" sz="900" baseline="-25000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C</a:t>
              </a:r>
              <a:endParaRPr lang="en-US" sz="900" baseline="-25000" dirty="0"/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E7E0E572-E1A5-4F2B-B1B7-EF5D72AEC061}"/>
                </a:ext>
              </a:extLst>
            </p:cNvPr>
            <p:cNvCxnSpPr>
              <a:cxnSpLocks/>
            </p:cNvCxnSpPr>
            <p:nvPr/>
          </p:nvCxnSpPr>
          <p:spPr>
            <a:xfrm>
              <a:off x="2955947" y="6989297"/>
              <a:ext cx="0" cy="216869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4A07B0A-3859-483E-8826-DE5FCF2E9C76}"/>
                </a:ext>
              </a:extLst>
            </p:cNvPr>
            <p:cNvSpPr/>
            <p:nvPr/>
          </p:nvSpPr>
          <p:spPr>
            <a:xfrm>
              <a:off x="3459606" y="6651682"/>
              <a:ext cx="32573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V</a:t>
              </a:r>
              <a:r>
                <a:rPr lang="en-US" sz="9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C</a:t>
              </a:r>
              <a:endParaRPr lang="en-US" sz="900" baseline="-25000" dirty="0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632ED3A-3C0A-4DA4-9490-D2D357EE9F34}"/>
                </a:ext>
              </a:extLst>
            </p:cNvPr>
            <p:cNvSpPr/>
            <p:nvPr/>
          </p:nvSpPr>
          <p:spPr>
            <a:xfrm>
              <a:off x="2883253" y="6766705"/>
              <a:ext cx="285656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I</a:t>
              </a:r>
              <a:r>
                <a:rPr lang="en-US" sz="9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C</a:t>
              </a:r>
              <a:endParaRPr lang="en-US" sz="900" baseline="-25000" dirty="0"/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4AEF4FD1-E08C-4E10-BC46-E51857B79534}"/>
                </a:ext>
              </a:extLst>
            </p:cNvPr>
            <p:cNvGrpSpPr/>
            <p:nvPr/>
          </p:nvGrpSpPr>
          <p:grpSpPr>
            <a:xfrm rot="19287717">
              <a:off x="3121082" y="7060645"/>
              <a:ext cx="110321" cy="115834"/>
              <a:chOff x="4531856" y="4988526"/>
              <a:chExt cx="151656" cy="151656"/>
            </a:xfrm>
          </p:grpSpPr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82345D1E-D2DF-4390-8153-A86ED41833B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607684" y="5064354"/>
                <a:ext cx="15165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DD65140-0AA9-4668-A8C7-26FCDCDD3F54}"/>
                  </a:ext>
                </a:extLst>
              </p:cNvPr>
              <p:cNvCxnSpPr/>
              <p:nvPr/>
            </p:nvCxnSpPr>
            <p:spPr>
              <a:xfrm>
                <a:off x="4531856" y="4993678"/>
                <a:ext cx="15165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551B1E15-EB40-444A-A7D5-8EFFA5610A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7477" y="6970834"/>
              <a:ext cx="244766" cy="237795"/>
            </a:xfrm>
            <a:prstGeom prst="straightConnector1">
              <a:avLst/>
            </a:prstGeom>
            <a:ln w="31750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8" name="Picture 14" descr="https://latex.codecogs.com/png.latex?%5Cdpi%7B200%7D%20v_%5Ctext%7BC%7D%20%3D%20V_%5Ctext%7BC%7D%20%5Ccos%20%5Comega%20t.">
            <a:extLst>
              <a:ext uri="{FF2B5EF4-FFF2-40B4-BE49-F238E27FC236}">
                <a16:creationId xmlns:a16="http://schemas.microsoft.com/office/drawing/2014/main" id="{433A2139-20BE-43B6-A19D-61F2D3911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776" y="3591849"/>
            <a:ext cx="700000" cy="9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40BA415A-CB68-4E34-9A3D-24DEF5C0A96F}"/>
              </a:ext>
            </a:extLst>
          </p:cNvPr>
          <p:cNvSpPr txBox="1"/>
          <p:nvPr/>
        </p:nvSpPr>
        <p:spPr>
          <a:xfrm flipH="1">
            <a:off x="3950989" y="4738194"/>
            <a:ext cx="362184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capacitive reactance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defined to be 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and has units of ohms.  The peak current can be written as</a:t>
            </a: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 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F7BC5A6-20F1-42DA-B856-C734A1D41CF8}"/>
              </a:ext>
            </a:extLst>
          </p:cNvPr>
          <p:cNvSpPr/>
          <p:nvPr/>
        </p:nvSpPr>
        <p:spPr>
          <a:xfrm>
            <a:off x="4024894" y="4912515"/>
            <a:ext cx="3493768" cy="2716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42" name="Picture 18" descr="https://latex.codecogs.com/png.latex?%5Cdpi%7B200%7D%20X_%5Ctext%7BC%7D%20%3D%20%5Cfrac%7B1%7D%7B%5Comega%20C%7D">
            <a:extLst>
              <a:ext uri="{FF2B5EF4-FFF2-40B4-BE49-F238E27FC236}">
                <a16:creationId xmlns:a16="http://schemas.microsoft.com/office/drawing/2014/main" id="{36663220-6735-45F5-B877-28B89B328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534" y="4936245"/>
            <a:ext cx="466667" cy="22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https://latex.codecogs.com/png.latex?%5Cdpi%7B200%7D%20I_%5Ctext%7BC%7D%20%3D%20%5Cfrac%7BV_%5Ctext%7BC%7D%7D%7BX_%5Ctext%7BC%7D%7D">
            <a:extLst>
              <a:ext uri="{FF2B5EF4-FFF2-40B4-BE49-F238E27FC236}">
                <a16:creationId xmlns:a16="http://schemas.microsoft.com/office/drawing/2014/main" id="{4250C85F-6DD8-4EBB-865C-6801B01FD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2046" y="5355474"/>
            <a:ext cx="413333" cy="24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AE74010B-BFED-4BB2-B3EB-0AF1144A0057}"/>
              </a:ext>
            </a:extLst>
          </p:cNvPr>
          <p:cNvSpPr txBox="1"/>
          <p:nvPr/>
        </p:nvSpPr>
        <p:spPr>
          <a:xfrm flipH="1">
            <a:off x="3950987" y="5671189"/>
            <a:ext cx="27114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Inductor Circuit</a:t>
            </a: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single inductor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connected to an oscillatory emf source </a:t>
            </a:r>
            <a:r>
              <a:rPr lang="en-US" sz="900" dirty="0">
                <a:latin typeface="Script MT Bold" panose="03040602040607080904" pitchFamily="66" charset="0"/>
                <a:ea typeface="CMU Serif" panose="02000603000000000000" pitchFamily="2" charset="0"/>
                <a:cs typeface="CMU Serif" panose="02000603000000000000" pitchFamily="2" charset="0"/>
              </a:rPr>
              <a:t>E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has an instantaneous voltage given by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instantaneous current through the resistor is 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where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/</a:t>
            </a:r>
            <a:r>
              <a:rPr lang="el-GR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ω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the peak current.  The current through and voltage across the capacitor are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out of phase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; the current lags the voltage by </a:t>
            </a:r>
            <a:r>
              <a:rPr lang="el-GR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π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/2 (90</a:t>
            </a:r>
            <a:r>
              <a:rPr lang="en-US" sz="900" dirty="0"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°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).</a:t>
            </a: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E20CA9B8-EE4E-4670-A2BC-82C44CD401DB}"/>
              </a:ext>
            </a:extLst>
          </p:cNvPr>
          <p:cNvGrpSpPr/>
          <p:nvPr/>
        </p:nvGrpSpPr>
        <p:grpSpPr>
          <a:xfrm>
            <a:off x="6560069" y="6458286"/>
            <a:ext cx="993885" cy="896799"/>
            <a:chOff x="2791451" y="6651682"/>
            <a:chExt cx="993885" cy="896799"/>
          </a:xfrm>
        </p:grpSpPr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305438BE-C24A-4F6F-8B19-29165B65A255}"/>
                </a:ext>
              </a:extLst>
            </p:cNvPr>
            <p:cNvCxnSpPr>
              <a:cxnSpLocks/>
            </p:cNvCxnSpPr>
            <p:nvPr/>
          </p:nvCxnSpPr>
          <p:spPr>
            <a:xfrm>
              <a:off x="3187409" y="6758478"/>
              <a:ext cx="0" cy="73105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E21A6731-5CC9-46D6-A752-B93D17D5505F}"/>
                </a:ext>
              </a:extLst>
            </p:cNvPr>
            <p:cNvCxnSpPr>
              <a:cxnSpLocks/>
            </p:cNvCxnSpPr>
            <p:nvPr/>
          </p:nvCxnSpPr>
          <p:spPr>
            <a:xfrm>
              <a:off x="2791451" y="7212568"/>
              <a:ext cx="893592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F90CB341-E30E-46FA-BAC5-49151473C2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7409" y="6825655"/>
              <a:ext cx="410496" cy="386913"/>
            </a:xfrm>
            <a:prstGeom prst="straightConnector1">
              <a:avLst/>
            </a:prstGeom>
            <a:ln w="31750">
              <a:solidFill>
                <a:schemeClr val="tx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941442A1-C5D2-47ED-B019-A5C477C56B09}"/>
                </a:ext>
              </a:extLst>
            </p:cNvPr>
            <p:cNvCxnSpPr>
              <a:cxnSpLocks/>
            </p:cNvCxnSpPr>
            <p:nvPr/>
          </p:nvCxnSpPr>
          <p:spPr>
            <a:xfrm>
              <a:off x="3594946" y="6828614"/>
              <a:ext cx="0" cy="383954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F2B68542-D778-4522-9F65-791EB218625F}"/>
                </a:ext>
              </a:extLst>
            </p:cNvPr>
            <p:cNvSpPr/>
            <p:nvPr/>
          </p:nvSpPr>
          <p:spPr>
            <a:xfrm>
              <a:off x="3463064" y="7164329"/>
              <a:ext cx="285656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i="1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v</a:t>
              </a:r>
              <a:r>
                <a:rPr lang="en-US" sz="900" baseline="-25000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L</a:t>
              </a:r>
              <a:endParaRPr lang="en-US" sz="900" baseline="-25000" dirty="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C4B6FE3C-5A61-422C-80C2-1080888A4308}"/>
                </a:ext>
              </a:extLst>
            </p:cNvPr>
            <p:cNvSpPr/>
            <p:nvPr/>
          </p:nvSpPr>
          <p:spPr>
            <a:xfrm>
              <a:off x="3334696" y="7017837"/>
              <a:ext cx="276038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i="1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i</a:t>
              </a:r>
              <a:r>
                <a:rPr lang="en-US" sz="900" baseline="-25000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L</a:t>
              </a:r>
              <a:endParaRPr lang="en-US" sz="900" baseline="-25000" dirty="0"/>
            </a:p>
          </p:txBody>
        </p: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3B43B4E4-DF14-4CB3-9F77-BF3F54128EA7}"/>
                </a:ext>
              </a:extLst>
            </p:cNvPr>
            <p:cNvCxnSpPr>
              <a:cxnSpLocks/>
            </p:cNvCxnSpPr>
            <p:nvPr/>
          </p:nvCxnSpPr>
          <p:spPr>
            <a:xfrm>
              <a:off x="3472715" y="7234955"/>
              <a:ext cx="0" cy="216869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BE96A5C1-B5B0-453D-BE73-94BDF60DFE85}"/>
                </a:ext>
              </a:extLst>
            </p:cNvPr>
            <p:cNvSpPr/>
            <p:nvPr/>
          </p:nvSpPr>
          <p:spPr>
            <a:xfrm>
              <a:off x="3459606" y="6651682"/>
              <a:ext cx="32573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V</a:t>
              </a:r>
              <a:r>
                <a:rPr lang="en-US" sz="9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L</a:t>
              </a:r>
              <a:endParaRPr lang="en-US" sz="900" baseline="-25000" dirty="0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BD90FF3C-AC49-4623-8C7B-A1CA9196F1CA}"/>
                </a:ext>
              </a:extLst>
            </p:cNvPr>
            <p:cNvSpPr/>
            <p:nvPr/>
          </p:nvSpPr>
          <p:spPr>
            <a:xfrm>
              <a:off x="3153594" y="7317649"/>
              <a:ext cx="285656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I</a:t>
              </a:r>
              <a:r>
                <a:rPr lang="en-US" sz="9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L</a:t>
              </a:r>
              <a:endParaRPr lang="en-US" sz="900" baseline="-25000" dirty="0"/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BCEBFAA0-A97B-41DC-9BE3-9B5D1C992E34}"/>
                </a:ext>
              </a:extLst>
            </p:cNvPr>
            <p:cNvGrpSpPr/>
            <p:nvPr/>
          </p:nvGrpSpPr>
          <p:grpSpPr>
            <a:xfrm rot="19287717">
              <a:off x="3217935" y="7149758"/>
              <a:ext cx="118468" cy="115834"/>
              <a:chOff x="4558498" y="5162114"/>
              <a:chExt cx="162857" cy="151656"/>
            </a:xfrm>
          </p:grpSpPr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7B389CB1-4A53-4BA4-B4B9-1F282FA1F5D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645527" y="5237942"/>
                <a:ext cx="15165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F89CE344-D48F-411B-9182-DD4C15752065}"/>
                  </a:ext>
                </a:extLst>
              </p:cNvPr>
              <p:cNvCxnSpPr/>
              <p:nvPr/>
            </p:nvCxnSpPr>
            <p:spPr>
              <a:xfrm>
                <a:off x="4558498" y="5305500"/>
                <a:ext cx="151657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07DC7076-C84C-49F5-800C-58709B44AE7C}"/>
                </a:ext>
              </a:extLst>
            </p:cNvPr>
            <p:cNvCxnSpPr>
              <a:cxnSpLocks/>
            </p:cNvCxnSpPr>
            <p:nvPr/>
          </p:nvCxnSpPr>
          <p:spPr>
            <a:xfrm>
              <a:off x="3192243" y="7208630"/>
              <a:ext cx="290587" cy="269521"/>
            </a:xfrm>
            <a:prstGeom prst="straightConnector1">
              <a:avLst/>
            </a:prstGeom>
            <a:ln w="31750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C2510C7-CE06-4CDA-BE09-065F105CA384}"/>
              </a:ext>
            </a:extLst>
          </p:cNvPr>
          <p:cNvGrpSpPr/>
          <p:nvPr/>
        </p:nvGrpSpPr>
        <p:grpSpPr>
          <a:xfrm>
            <a:off x="6589623" y="5737644"/>
            <a:ext cx="891689" cy="648158"/>
            <a:chOff x="6590495" y="6279550"/>
            <a:chExt cx="891689" cy="648158"/>
          </a:xfrm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AAF62F8D-05AA-4E7E-9773-3C71BB098605}"/>
                </a:ext>
              </a:extLst>
            </p:cNvPr>
            <p:cNvSpPr/>
            <p:nvPr/>
          </p:nvSpPr>
          <p:spPr>
            <a:xfrm>
              <a:off x="6690957" y="6279550"/>
              <a:ext cx="740323" cy="64815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E2822F65-FA5A-4E4F-90E9-0CD1719F33B6}"/>
                </a:ext>
              </a:extLst>
            </p:cNvPr>
            <p:cNvSpPr txBox="1"/>
            <p:nvPr/>
          </p:nvSpPr>
          <p:spPr>
            <a:xfrm>
              <a:off x="7097332" y="6477309"/>
              <a:ext cx="30160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L</a:t>
              </a:r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D57A177C-21BD-46E7-8EDB-370836406424}"/>
                </a:ext>
              </a:extLst>
            </p:cNvPr>
            <p:cNvGrpSpPr/>
            <p:nvPr/>
          </p:nvGrpSpPr>
          <p:grpSpPr>
            <a:xfrm>
              <a:off x="6590495" y="6488547"/>
              <a:ext cx="196087" cy="196087"/>
              <a:chOff x="4818705" y="6976189"/>
              <a:chExt cx="196087" cy="196087"/>
            </a:xfrm>
          </p:grpSpPr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D9D65223-7FFE-41D7-9E9E-FE092C3586D9}"/>
                  </a:ext>
                </a:extLst>
              </p:cNvPr>
              <p:cNvSpPr/>
              <p:nvPr/>
            </p:nvSpPr>
            <p:spPr>
              <a:xfrm>
                <a:off x="4818705" y="6976189"/>
                <a:ext cx="196087" cy="19608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8E97BF2D-F243-4BF0-8DB6-8EBE915A8780}"/>
                  </a:ext>
                </a:extLst>
              </p:cNvPr>
              <p:cNvSpPr/>
              <p:nvPr/>
            </p:nvSpPr>
            <p:spPr>
              <a:xfrm>
                <a:off x="4855408" y="7052786"/>
                <a:ext cx="127518" cy="45719"/>
              </a:xfrm>
              <a:custGeom>
                <a:avLst/>
                <a:gdLst>
                  <a:gd name="connsiteX0" fmla="*/ 0 w 527539"/>
                  <a:gd name="connsiteY0" fmla="*/ 188165 h 376330"/>
                  <a:gd name="connsiteX1" fmla="*/ 161779 w 527539"/>
                  <a:gd name="connsiteY1" fmla="*/ 5285 h 376330"/>
                  <a:gd name="connsiteX2" fmla="*/ 372794 w 527539"/>
                  <a:gd name="connsiteY2" fmla="*/ 371045 h 376330"/>
                  <a:gd name="connsiteX3" fmla="*/ 527539 w 527539"/>
                  <a:gd name="connsiteY3" fmla="*/ 188165 h 376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7539" h="376330">
                    <a:moveTo>
                      <a:pt x="0" y="188165"/>
                    </a:moveTo>
                    <a:cubicBezTo>
                      <a:pt x="49823" y="81485"/>
                      <a:pt x="99647" y="-25195"/>
                      <a:pt x="161779" y="5285"/>
                    </a:cubicBezTo>
                    <a:cubicBezTo>
                      <a:pt x="223911" y="35765"/>
                      <a:pt x="311834" y="340565"/>
                      <a:pt x="372794" y="371045"/>
                    </a:cubicBezTo>
                    <a:cubicBezTo>
                      <a:pt x="433754" y="401525"/>
                      <a:pt x="480646" y="294845"/>
                      <a:pt x="527539" y="18816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B2CF1496-2FB4-4B79-99E3-4D065A715180}"/>
                </a:ext>
              </a:extLst>
            </p:cNvPr>
            <p:cNvSpPr/>
            <p:nvPr/>
          </p:nvSpPr>
          <p:spPr>
            <a:xfrm>
              <a:off x="6768195" y="6451080"/>
              <a:ext cx="258404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50" dirty="0">
                  <a:latin typeface="Script MT Bold" panose="03040602040607080904" pitchFamily="66" charset="0"/>
                  <a:ea typeface="CMU Serif" panose="02000603000000000000" pitchFamily="2" charset="0"/>
                  <a:cs typeface="CMU Serif" panose="02000603000000000000" pitchFamily="2" charset="0"/>
                </a:rPr>
                <a:t>E</a:t>
              </a:r>
              <a:endParaRPr lang="en-US" sz="1050" dirty="0"/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135A478D-B121-4FFE-AB44-B94C6779D0EF}"/>
                </a:ext>
              </a:extLst>
            </p:cNvPr>
            <p:cNvGrpSpPr/>
            <p:nvPr/>
          </p:nvGrpSpPr>
          <p:grpSpPr>
            <a:xfrm>
              <a:off x="7354666" y="6481438"/>
              <a:ext cx="127518" cy="252688"/>
              <a:chOff x="6039327" y="7755443"/>
              <a:chExt cx="109403" cy="430779"/>
            </a:xfrm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2597CC51-D2EF-49E4-BB41-861390A7BF1D}"/>
                  </a:ext>
                </a:extLst>
              </p:cNvPr>
              <p:cNvSpPr/>
              <p:nvPr/>
            </p:nvSpPr>
            <p:spPr>
              <a:xfrm>
                <a:off x="6039327" y="7788598"/>
                <a:ext cx="109403" cy="35068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98" name="Picture 24" descr="https://webstockreview.net/images/electrical-clipart-svg-17.png">
                <a:extLst>
                  <a:ext uri="{FF2B5EF4-FFF2-40B4-BE49-F238E27FC236}">
                    <a16:creationId xmlns:a16="http://schemas.microsoft.com/office/drawing/2014/main" id="{2C1AB9D2-ED8E-4385-9AA1-3C529F19CD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0759" y="7755443"/>
                <a:ext cx="75466" cy="4307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073B5FAC-B7A0-4E1B-BC66-F5CE99E5AE7B}"/>
              </a:ext>
            </a:extLst>
          </p:cNvPr>
          <p:cNvSpPr txBox="1"/>
          <p:nvPr/>
        </p:nvSpPr>
        <p:spPr>
          <a:xfrm flipH="1">
            <a:off x="3958983" y="7336896"/>
            <a:ext cx="362184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inductive reactance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defined to be 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and has units of ohms.  The peak current can be written as</a:t>
            </a: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 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71113D0E-9639-4CF1-AE27-B115D68279BD}"/>
              </a:ext>
            </a:extLst>
          </p:cNvPr>
          <p:cNvSpPr/>
          <p:nvPr/>
        </p:nvSpPr>
        <p:spPr>
          <a:xfrm>
            <a:off x="4038600" y="7553725"/>
            <a:ext cx="3493768" cy="2087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46" name="Picture 22" descr="https://latex.codecogs.com/png.latex?%5Cdpi%7B200%7D%20v_%5Ctext%7BL%7D%20%3D%20V_%5Ctext%7BL%7D%20%5Ccos%20%5Comega%20t">
            <a:extLst>
              <a:ext uri="{FF2B5EF4-FFF2-40B4-BE49-F238E27FC236}">
                <a16:creationId xmlns:a16="http://schemas.microsoft.com/office/drawing/2014/main" id="{A66C5BB3-5D38-4C2E-8896-5FC48DD1D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428" y="6232371"/>
            <a:ext cx="656667" cy="9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https://latex.codecogs.com/png.latex?%5Cdpi%7B200%7D%20i_%5Ctext%7BL%7D%20%3D%20I_%5Ctext%7BL%7D%20%5Ccos%20%28%5Comega%20t%20-%20%5Ctfrac%7B%5Cpi%7D%7B2%7D%29">
            <a:extLst>
              <a:ext uri="{FF2B5EF4-FFF2-40B4-BE49-F238E27FC236}">
                <a16:creationId xmlns:a16="http://schemas.microsoft.com/office/drawing/2014/main" id="{FA9F4A7A-FAAC-47E4-A3C3-A9B9527F9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509" y="6609642"/>
            <a:ext cx="890000" cy="1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https://latex.codecogs.com/png.latex?%5Cdpi%7B200%7D%20X_%5Ctext%7BL%7D%20%3D%20%5Comega%20L">
            <a:extLst>
              <a:ext uri="{FF2B5EF4-FFF2-40B4-BE49-F238E27FC236}">
                <a16:creationId xmlns:a16="http://schemas.microsoft.com/office/drawing/2014/main" id="{74A1E706-C0B8-4935-BFCC-D7A06FC54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752" y="7610673"/>
            <a:ext cx="430000" cy="9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https://latex.codecogs.com/png.latex?%5Cdpi%7B200%7D%20I_%5Ctext%7BL%7D%20%3D%20%5Cfrac%7BV_L%7D%7BX_L%7D">
            <a:extLst>
              <a:ext uri="{FF2B5EF4-FFF2-40B4-BE49-F238E27FC236}">
                <a16:creationId xmlns:a16="http://schemas.microsoft.com/office/drawing/2014/main" id="{27857844-48AC-4F5B-AB05-A536FBF01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239" y="7945732"/>
            <a:ext cx="403333" cy="24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" name="TextBox 206">
            <a:extLst>
              <a:ext uri="{FF2B5EF4-FFF2-40B4-BE49-F238E27FC236}">
                <a16:creationId xmlns:a16="http://schemas.microsoft.com/office/drawing/2014/main" id="{97224D78-FCBC-4CE4-BF56-56369058396E}"/>
              </a:ext>
            </a:extLst>
          </p:cNvPr>
          <p:cNvSpPr txBox="1"/>
          <p:nvPr/>
        </p:nvSpPr>
        <p:spPr>
          <a:xfrm flipH="1">
            <a:off x="186156" y="3024217"/>
            <a:ext cx="3621318" cy="2508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RC Filter Circuits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peak current in an RC circuit is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and the voltages across the resistor and capacitor</a:t>
            </a: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are 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 RC circuit can act as a frequency filter: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voltage across the capacitor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sz="900" dirty="0">
                <a:latin typeface="Arial" panose="020B0604020202020204" pitchFamily="34" charset="0"/>
                <a:ea typeface="CMU Serif" panose="02000603000000000000" pitchFamily="2" charset="0"/>
                <a:cs typeface="Arial" panose="020B0604020202020204" pitchFamily="34" charset="0"/>
              </a:rPr>
              <a:t>→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sz="900" dirty="0">
                <a:latin typeface="Script MT Bold" panose="03040602040607080904" pitchFamily="66" charset="0"/>
                <a:ea typeface="CMU Serif" panose="02000603000000000000" pitchFamily="2" charset="0"/>
                <a:cs typeface="CMU Serif" panose="02000603000000000000" pitchFamily="2" charset="0"/>
              </a:rPr>
              <a:t>E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as </a:t>
            </a:r>
            <a:r>
              <a:rPr lang="el-GR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ω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sz="900" dirty="0">
                <a:latin typeface="Arial" panose="020B0604020202020204" pitchFamily="34" charset="0"/>
                <a:ea typeface="CMU Serif" panose="02000603000000000000" pitchFamily="2" charset="0"/>
                <a:cs typeface="Arial" panose="020B0604020202020204" pitchFamily="34" charset="0"/>
              </a:rPr>
              <a:t>→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0.  Connecting an element across the capacitor allows it to act as a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low-pass filter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: only low frequencies will be transmitted.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voltage across the resistor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sz="900" dirty="0">
                <a:latin typeface="Arial" panose="020B0604020202020204" pitchFamily="34" charset="0"/>
                <a:ea typeface="CMU Serif" panose="02000603000000000000" pitchFamily="2" charset="0"/>
                <a:cs typeface="Arial" panose="020B0604020202020204" pitchFamily="34" charset="0"/>
              </a:rPr>
              <a:t>→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sz="900" dirty="0">
                <a:latin typeface="Script MT Bold" panose="03040602040607080904" pitchFamily="66" charset="0"/>
                <a:ea typeface="CMU Serif" panose="02000603000000000000" pitchFamily="2" charset="0"/>
                <a:cs typeface="CMU Serif" panose="02000603000000000000" pitchFamily="2" charset="0"/>
              </a:rPr>
              <a:t>E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as </a:t>
            </a:r>
            <a:r>
              <a:rPr lang="el-GR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ω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sz="900" dirty="0">
                <a:latin typeface="Arial" panose="020B0604020202020204" pitchFamily="34" charset="0"/>
                <a:ea typeface="CMU Serif" panose="02000603000000000000" pitchFamily="2" charset="0"/>
                <a:cs typeface="Arial" panose="020B0604020202020204" pitchFamily="34" charset="0"/>
              </a:rPr>
              <a:t>→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sz="900" dirty="0">
                <a:latin typeface="Arial" panose="020B0604020202020204" pitchFamily="34" charset="0"/>
                <a:ea typeface="CMU Serif" panose="02000603000000000000" pitchFamily="2" charset="0"/>
                <a:cs typeface="Arial" panose="020B0604020202020204" pitchFamily="34" charset="0"/>
              </a:rPr>
              <a:t>∞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  Connecting an element across the resistor allows it to act as a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high-pass filter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: only high frequencies will be transmitted.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52F19DC-AE28-4441-B8AF-9C2D496EF7D3}"/>
              </a:ext>
            </a:extLst>
          </p:cNvPr>
          <p:cNvSpPr/>
          <p:nvPr/>
        </p:nvSpPr>
        <p:spPr>
          <a:xfrm>
            <a:off x="2923398" y="3110997"/>
            <a:ext cx="740323" cy="88456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5414F313-5D8B-4B0E-BF73-E4F27035DB3A}"/>
              </a:ext>
            </a:extLst>
          </p:cNvPr>
          <p:cNvSpPr txBox="1"/>
          <p:nvPr/>
        </p:nvSpPr>
        <p:spPr>
          <a:xfrm>
            <a:off x="3352443" y="3304207"/>
            <a:ext cx="3016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18FD9D5B-8133-464F-85DE-E711C0406361}"/>
              </a:ext>
            </a:extLst>
          </p:cNvPr>
          <p:cNvGrpSpPr/>
          <p:nvPr/>
        </p:nvGrpSpPr>
        <p:grpSpPr>
          <a:xfrm rot="5400000">
            <a:off x="3497728" y="3368532"/>
            <a:ext cx="331985" cy="127517"/>
            <a:chOff x="4077841" y="7488950"/>
            <a:chExt cx="601735" cy="164521"/>
          </a:xfrm>
        </p:grpSpPr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80688456-A935-4F90-9CE3-2A0DD8F53736}"/>
                </a:ext>
              </a:extLst>
            </p:cNvPr>
            <p:cNvSpPr/>
            <p:nvPr/>
          </p:nvSpPr>
          <p:spPr>
            <a:xfrm>
              <a:off x="4077841" y="7488950"/>
              <a:ext cx="601735" cy="164521"/>
            </a:xfrm>
            <a:prstGeom prst="rect">
              <a:avLst/>
            </a:prstGeom>
            <a:solidFill>
              <a:schemeClr val="bg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FD65F933-1142-43F7-9286-292681EC0AC1}"/>
                </a:ext>
              </a:extLst>
            </p:cNvPr>
            <p:cNvGrpSpPr/>
            <p:nvPr/>
          </p:nvGrpSpPr>
          <p:grpSpPr>
            <a:xfrm>
              <a:off x="4077841" y="7493587"/>
              <a:ext cx="601735" cy="155212"/>
              <a:chOff x="4409241" y="7432471"/>
              <a:chExt cx="2635720" cy="676105"/>
            </a:xfrm>
          </p:grpSpPr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890CCA7C-ACEF-4177-B443-91E4F2C733C7}"/>
                  </a:ext>
                </a:extLst>
              </p:cNvPr>
              <p:cNvCxnSpPr/>
              <p:nvPr/>
            </p:nvCxnSpPr>
            <p:spPr>
              <a:xfrm flipV="1">
                <a:off x="4409241" y="7456395"/>
                <a:ext cx="215153" cy="3563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FF87C00C-7AE7-43C1-BFEA-C82B49F8A114}"/>
                  </a:ext>
                </a:extLst>
              </p:cNvPr>
              <p:cNvCxnSpPr/>
              <p:nvPr/>
            </p:nvCxnSpPr>
            <p:spPr>
              <a:xfrm>
                <a:off x="4624394" y="7456395"/>
                <a:ext cx="317400" cy="6521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BCA2975C-9056-411C-B62E-6D588B2964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41794" y="7455859"/>
                <a:ext cx="317400" cy="6521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1CDDF080-FA51-4B77-9B96-BAE57A14D8D1}"/>
                  </a:ext>
                </a:extLst>
              </p:cNvPr>
              <p:cNvCxnSpPr/>
              <p:nvPr/>
            </p:nvCxnSpPr>
            <p:spPr>
              <a:xfrm>
                <a:off x="5259194" y="7448063"/>
                <a:ext cx="317400" cy="6521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7A11D595-F6F9-43EF-B0DD-3FC401B5F5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6594" y="7440267"/>
                <a:ext cx="317400" cy="6521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1BC601BE-5AE6-451E-8DBE-AEE85A66B9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07732" y="7439195"/>
                <a:ext cx="317400" cy="6521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14C5BE3C-E3F7-4571-8EDE-B0F4B32644BF}"/>
                  </a:ext>
                </a:extLst>
              </p:cNvPr>
              <p:cNvCxnSpPr/>
              <p:nvPr/>
            </p:nvCxnSpPr>
            <p:spPr>
              <a:xfrm>
                <a:off x="5885726" y="7432471"/>
                <a:ext cx="317400" cy="6521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5F606903-8C8B-4BDC-962F-88885CD0917B}"/>
                  </a:ext>
                </a:extLst>
              </p:cNvPr>
              <p:cNvCxnSpPr/>
              <p:nvPr/>
            </p:nvCxnSpPr>
            <p:spPr>
              <a:xfrm>
                <a:off x="6525132" y="7450497"/>
                <a:ext cx="317400" cy="6521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33CFA855-868A-4728-9BDC-ADB27D14935D}"/>
                  </a:ext>
                </a:extLst>
              </p:cNvPr>
              <p:cNvCxnSpPr/>
              <p:nvPr/>
            </p:nvCxnSpPr>
            <p:spPr>
              <a:xfrm flipV="1">
                <a:off x="6829808" y="7737174"/>
                <a:ext cx="215153" cy="3563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C46E9256-5E0B-4439-BAD9-85C81ED4CE79}"/>
              </a:ext>
            </a:extLst>
          </p:cNvPr>
          <p:cNvGrpSpPr/>
          <p:nvPr/>
        </p:nvGrpSpPr>
        <p:grpSpPr>
          <a:xfrm>
            <a:off x="2828484" y="3459725"/>
            <a:ext cx="196087" cy="196087"/>
            <a:chOff x="4818705" y="6976189"/>
            <a:chExt cx="196087" cy="196087"/>
          </a:xfrm>
        </p:grpSpPr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4203CD0E-7159-4BB3-B23E-BFEAB8FF2249}"/>
                </a:ext>
              </a:extLst>
            </p:cNvPr>
            <p:cNvSpPr/>
            <p:nvPr/>
          </p:nvSpPr>
          <p:spPr>
            <a:xfrm>
              <a:off x="4818705" y="6976189"/>
              <a:ext cx="196087" cy="196087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AFBD4987-6FB2-471C-A2DB-949D7C866F92}"/>
                </a:ext>
              </a:extLst>
            </p:cNvPr>
            <p:cNvSpPr/>
            <p:nvPr/>
          </p:nvSpPr>
          <p:spPr>
            <a:xfrm>
              <a:off x="4855408" y="7052786"/>
              <a:ext cx="127518" cy="45719"/>
            </a:xfrm>
            <a:custGeom>
              <a:avLst/>
              <a:gdLst>
                <a:gd name="connsiteX0" fmla="*/ 0 w 527539"/>
                <a:gd name="connsiteY0" fmla="*/ 188165 h 376330"/>
                <a:gd name="connsiteX1" fmla="*/ 161779 w 527539"/>
                <a:gd name="connsiteY1" fmla="*/ 5285 h 376330"/>
                <a:gd name="connsiteX2" fmla="*/ 372794 w 527539"/>
                <a:gd name="connsiteY2" fmla="*/ 371045 h 376330"/>
                <a:gd name="connsiteX3" fmla="*/ 527539 w 527539"/>
                <a:gd name="connsiteY3" fmla="*/ 188165 h 37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7539" h="376330">
                  <a:moveTo>
                    <a:pt x="0" y="188165"/>
                  </a:moveTo>
                  <a:cubicBezTo>
                    <a:pt x="49823" y="81485"/>
                    <a:pt x="99647" y="-25195"/>
                    <a:pt x="161779" y="5285"/>
                  </a:cubicBezTo>
                  <a:cubicBezTo>
                    <a:pt x="223911" y="35765"/>
                    <a:pt x="311834" y="340565"/>
                    <a:pt x="372794" y="371045"/>
                  </a:cubicBezTo>
                  <a:cubicBezTo>
                    <a:pt x="433754" y="401525"/>
                    <a:pt x="480646" y="294845"/>
                    <a:pt x="527539" y="18816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3" name="Rectangle 212">
            <a:extLst>
              <a:ext uri="{FF2B5EF4-FFF2-40B4-BE49-F238E27FC236}">
                <a16:creationId xmlns:a16="http://schemas.microsoft.com/office/drawing/2014/main" id="{FD1FC1EF-2786-48F1-BAE1-AC62FCEA7656}"/>
              </a:ext>
            </a:extLst>
          </p:cNvPr>
          <p:cNvSpPr/>
          <p:nvPr/>
        </p:nvSpPr>
        <p:spPr>
          <a:xfrm>
            <a:off x="3006184" y="3422258"/>
            <a:ext cx="25840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Script MT Bold" panose="03040602040607080904" pitchFamily="66" charset="0"/>
                <a:ea typeface="CMU Serif" panose="02000603000000000000" pitchFamily="2" charset="0"/>
                <a:cs typeface="CMU Serif" panose="02000603000000000000" pitchFamily="2" charset="0"/>
              </a:rPr>
              <a:t>E</a:t>
            </a:r>
            <a:endParaRPr lang="en-US" sz="1050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98285B41-9F63-4F06-9FFA-1618DE7E2AA9}"/>
              </a:ext>
            </a:extLst>
          </p:cNvPr>
          <p:cNvSpPr txBox="1"/>
          <p:nvPr/>
        </p:nvSpPr>
        <p:spPr>
          <a:xfrm>
            <a:off x="3314863" y="3703294"/>
            <a:ext cx="3016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</a:t>
            </a:r>
          </a:p>
        </p:txBody>
      </p:sp>
      <p:pic>
        <p:nvPicPr>
          <p:cNvPr id="1054" name="Picture 30" descr="https://latex.codecogs.com/png.latex?%5Cdpi%7B200%7D%20I%20%3D%20%5Cfrac%7B%5Cmathcal%7BE%7D_0%7D%7B%5Csqrt%7BR%5E2%20&amp;plus;%20X_C%5E2%7D%7D%2C">
            <a:extLst>
              <a:ext uri="{FF2B5EF4-FFF2-40B4-BE49-F238E27FC236}">
                <a16:creationId xmlns:a16="http://schemas.microsoft.com/office/drawing/2014/main" id="{CB2C70B3-1422-4F4F-B078-7ACB410A1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416" y="3577566"/>
            <a:ext cx="770000" cy="27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https://latex.codecogs.com/png.latex?%5Cdpi%7B200%7D%20V_R%20%3D%20%5Cfrac%7B%5Cmathcal%7BE%7D_0%20R%7D%7B%5Csqrt%7BR%5E2%20&amp;plus;%20X_C%5E2%7D%7D%20%5Cquad%20%5Ctext%7Band%7D%20%5Cquad%20V_C%20%3D%20%5Cfrac%7B%5Cmathcal%7BE%7D_0%20X_C%7D%7B%5Csqrt%7BR%5E2%20&amp;plus;%20X_C%5E2%7D%7D">
            <a:extLst>
              <a:ext uri="{FF2B5EF4-FFF2-40B4-BE49-F238E27FC236}">
                <a16:creationId xmlns:a16="http://schemas.microsoft.com/office/drawing/2014/main" id="{BE49E3FF-F3EA-4200-9C7B-0790B78A0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736" y="4193002"/>
            <a:ext cx="2026667" cy="27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2" name="Rectangle 241">
            <a:extLst>
              <a:ext uri="{FF2B5EF4-FFF2-40B4-BE49-F238E27FC236}">
                <a16:creationId xmlns:a16="http://schemas.microsoft.com/office/drawing/2014/main" id="{56D4CC72-6B4A-4E51-B2A6-76D9DE252AFD}"/>
              </a:ext>
            </a:extLst>
          </p:cNvPr>
          <p:cNvSpPr/>
          <p:nvPr/>
        </p:nvSpPr>
        <p:spPr>
          <a:xfrm>
            <a:off x="187489" y="5643707"/>
            <a:ext cx="3629277" cy="26297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9BDEE275-9903-4739-92CA-1B9E33B0F356}"/>
              </a:ext>
            </a:extLst>
          </p:cNvPr>
          <p:cNvGrpSpPr/>
          <p:nvPr/>
        </p:nvGrpSpPr>
        <p:grpSpPr>
          <a:xfrm>
            <a:off x="3408518" y="6354751"/>
            <a:ext cx="226177" cy="93540"/>
            <a:chOff x="6011613" y="8416520"/>
            <a:chExt cx="258094" cy="49797"/>
          </a:xfrm>
        </p:grpSpPr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B4F45EB5-AD1D-4F06-8E58-C1CAB7C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6011613" y="8416520"/>
              <a:ext cx="25809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8DFAF5C7-074E-4BAE-9EE4-4ABD57114F9F}"/>
                </a:ext>
              </a:extLst>
            </p:cNvPr>
            <p:cNvCxnSpPr>
              <a:cxnSpLocks/>
            </p:cNvCxnSpPr>
            <p:nvPr/>
          </p:nvCxnSpPr>
          <p:spPr>
            <a:xfrm>
              <a:off x="6017770" y="8466317"/>
              <a:ext cx="25193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73506121-82BA-4B47-BD97-2021681CE875}"/>
                </a:ext>
              </a:extLst>
            </p:cNvPr>
            <p:cNvSpPr/>
            <p:nvPr/>
          </p:nvSpPr>
          <p:spPr>
            <a:xfrm>
              <a:off x="6011613" y="8418915"/>
              <a:ext cx="258094" cy="458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47" name="TextBox 246">
            <a:extLst>
              <a:ext uri="{FF2B5EF4-FFF2-40B4-BE49-F238E27FC236}">
                <a16:creationId xmlns:a16="http://schemas.microsoft.com/office/drawing/2014/main" id="{40910A63-7ACE-4F74-AEBC-5B2FCED8E94E}"/>
              </a:ext>
            </a:extLst>
          </p:cNvPr>
          <p:cNvSpPr txBox="1"/>
          <p:nvPr/>
        </p:nvSpPr>
        <p:spPr>
          <a:xfrm flipH="1">
            <a:off x="182383" y="5642072"/>
            <a:ext cx="362131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The Series RLC Circuit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peak current in an RLC circuit is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where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Z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the impendence: 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peak voltages are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IX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and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IX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emf and current are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out of phase 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by the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phase angle</a:t>
            </a:r>
          </a:p>
          <a:p>
            <a:endParaRPr lang="en-US" sz="900" i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i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i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maximum current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max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en-US" sz="900" dirty="0">
                <a:latin typeface="Script MT Bold" panose="03040602040607080904" pitchFamily="66" charset="0"/>
                <a:ea typeface="CMU Serif" panose="02000603000000000000" pitchFamily="2" charset="0"/>
                <a:cs typeface="CMU Serif" panose="02000603000000000000" pitchFamily="2" charset="0"/>
              </a:rPr>
              <a:t>E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/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through the circuit occurs at the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resonance frequency </a:t>
            </a:r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i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i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i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E9D8DE83-F1D8-4BFB-95B4-0AC352956AA3}"/>
              </a:ext>
            </a:extLst>
          </p:cNvPr>
          <p:cNvSpPr/>
          <p:nvPr/>
        </p:nvSpPr>
        <p:spPr>
          <a:xfrm>
            <a:off x="2793539" y="5717396"/>
            <a:ext cx="740323" cy="11988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AD9AB7E5-8E37-4889-BC1E-9A0746BF7A1B}"/>
              </a:ext>
            </a:extLst>
          </p:cNvPr>
          <p:cNvSpPr txBox="1"/>
          <p:nvPr/>
        </p:nvSpPr>
        <p:spPr>
          <a:xfrm>
            <a:off x="3222584" y="5910606"/>
            <a:ext cx="3016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</a:p>
        </p:txBody>
      </p: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87E6DADA-593E-4C51-84B6-C89266217AAA}"/>
              </a:ext>
            </a:extLst>
          </p:cNvPr>
          <p:cNvGrpSpPr/>
          <p:nvPr/>
        </p:nvGrpSpPr>
        <p:grpSpPr>
          <a:xfrm rot="5400000">
            <a:off x="3367869" y="5974931"/>
            <a:ext cx="331985" cy="127517"/>
            <a:chOff x="4077841" y="7488950"/>
            <a:chExt cx="601735" cy="164521"/>
          </a:xfrm>
        </p:grpSpPr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A7A8B74B-1750-46C9-9E3C-B454E6F3A3DF}"/>
                </a:ext>
              </a:extLst>
            </p:cNvPr>
            <p:cNvSpPr/>
            <p:nvPr/>
          </p:nvSpPr>
          <p:spPr>
            <a:xfrm>
              <a:off x="4077841" y="7488950"/>
              <a:ext cx="601735" cy="164521"/>
            </a:xfrm>
            <a:prstGeom prst="rect">
              <a:avLst/>
            </a:prstGeom>
            <a:solidFill>
              <a:schemeClr val="bg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F8633701-4C07-4C98-AE55-DADCAAC7296E}"/>
                </a:ext>
              </a:extLst>
            </p:cNvPr>
            <p:cNvGrpSpPr/>
            <p:nvPr/>
          </p:nvGrpSpPr>
          <p:grpSpPr>
            <a:xfrm>
              <a:off x="4077841" y="7493587"/>
              <a:ext cx="601735" cy="155212"/>
              <a:chOff x="4409241" y="7432471"/>
              <a:chExt cx="2635720" cy="676105"/>
            </a:xfrm>
          </p:grpSpPr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F2E48497-DDD5-4431-A332-955A4EF7B0DB}"/>
                  </a:ext>
                </a:extLst>
              </p:cNvPr>
              <p:cNvCxnSpPr/>
              <p:nvPr/>
            </p:nvCxnSpPr>
            <p:spPr>
              <a:xfrm flipV="1">
                <a:off x="4409241" y="7456395"/>
                <a:ext cx="215153" cy="3563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A7CA49F3-B1CD-4993-8FB8-DBC1F9D36C4C}"/>
                  </a:ext>
                </a:extLst>
              </p:cNvPr>
              <p:cNvCxnSpPr/>
              <p:nvPr/>
            </p:nvCxnSpPr>
            <p:spPr>
              <a:xfrm>
                <a:off x="4624394" y="7456395"/>
                <a:ext cx="317400" cy="6521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60A9195C-F00F-4AFD-AE59-1EFC563A52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41794" y="7455859"/>
                <a:ext cx="317400" cy="6521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00EAE12A-607B-41BE-89F0-93E09B0FB893}"/>
                  </a:ext>
                </a:extLst>
              </p:cNvPr>
              <p:cNvCxnSpPr/>
              <p:nvPr/>
            </p:nvCxnSpPr>
            <p:spPr>
              <a:xfrm>
                <a:off x="5259194" y="7448063"/>
                <a:ext cx="317400" cy="6521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DC51B6CA-89FC-4232-BE37-5184940B7B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6594" y="7440267"/>
                <a:ext cx="317400" cy="6521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02D339FE-4316-4727-AA40-116F22EA7C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07732" y="7439195"/>
                <a:ext cx="317400" cy="6521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E80AB57C-779D-4ADA-BD9E-D94F9D1872B3}"/>
                  </a:ext>
                </a:extLst>
              </p:cNvPr>
              <p:cNvCxnSpPr/>
              <p:nvPr/>
            </p:nvCxnSpPr>
            <p:spPr>
              <a:xfrm>
                <a:off x="5885726" y="7432471"/>
                <a:ext cx="317400" cy="6521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D9392DCD-46E9-46BA-BACC-D7C0F3544778}"/>
                  </a:ext>
                </a:extLst>
              </p:cNvPr>
              <p:cNvCxnSpPr/>
              <p:nvPr/>
            </p:nvCxnSpPr>
            <p:spPr>
              <a:xfrm>
                <a:off x="6525132" y="7450497"/>
                <a:ext cx="317400" cy="6521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F576F858-2034-4389-8D00-606CC6199A8B}"/>
                  </a:ext>
                </a:extLst>
              </p:cNvPr>
              <p:cNvCxnSpPr/>
              <p:nvPr/>
            </p:nvCxnSpPr>
            <p:spPr>
              <a:xfrm flipV="1">
                <a:off x="6829808" y="7737174"/>
                <a:ext cx="215153" cy="3563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CEFC8D91-534D-451D-A2E0-419B3E000361}"/>
              </a:ext>
            </a:extLst>
          </p:cNvPr>
          <p:cNvGrpSpPr/>
          <p:nvPr/>
        </p:nvGrpSpPr>
        <p:grpSpPr>
          <a:xfrm>
            <a:off x="2698625" y="6066124"/>
            <a:ext cx="196087" cy="196087"/>
            <a:chOff x="4818705" y="6976189"/>
            <a:chExt cx="196087" cy="196087"/>
          </a:xfrm>
        </p:grpSpPr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E123F17C-2406-402F-BC4C-5D99121EFE0D}"/>
                </a:ext>
              </a:extLst>
            </p:cNvPr>
            <p:cNvSpPr/>
            <p:nvPr/>
          </p:nvSpPr>
          <p:spPr>
            <a:xfrm>
              <a:off x="4818705" y="6976189"/>
              <a:ext cx="196087" cy="196087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436F840F-EFF3-4BE8-B417-E8E8196619BD}"/>
                </a:ext>
              </a:extLst>
            </p:cNvPr>
            <p:cNvSpPr/>
            <p:nvPr/>
          </p:nvSpPr>
          <p:spPr>
            <a:xfrm>
              <a:off x="4855408" y="7052786"/>
              <a:ext cx="127518" cy="45719"/>
            </a:xfrm>
            <a:custGeom>
              <a:avLst/>
              <a:gdLst>
                <a:gd name="connsiteX0" fmla="*/ 0 w 527539"/>
                <a:gd name="connsiteY0" fmla="*/ 188165 h 376330"/>
                <a:gd name="connsiteX1" fmla="*/ 161779 w 527539"/>
                <a:gd name="connsiteY1" fmla="*/ 5285 h 376330"/>
                <a:gd name="connsiteX2" fmla="*/ 372794 w 527539"/>
                <a:gd name="connsiteY2" fmla="*/ 371045 h 376330"/>
                <a:gd name="connsiteX3" fmla="*/ 527539 w 527539"/>
                <a:gd name="connsiteY3" fmla="*/ 188165 h 37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7539" h="376330">
                  <a:moveTo>
                    <a:pt x="0" y="188165"/>
                  </a:moveTo>
                  <a:cubicBezTo>
                    <a:pt x="49823" y="81485"/>
                    <a:pt x="99647" y="-25195"/>
                    <a:pt x="161779" y="5285"/>
                  </a:cubicBezTo>
                  <a:cubicBezTo>
                    <a:pt x="223911" y="35765"/>
                    <a:pt x="311834" y="340565"/>
                    <a:pt x="372794" y="371045"/>
                  </a:cubicBezTo>
                  <a:cubicBezTo>
                    <a:pt x="433754" y="401525"/>
                    <a:pt x="480646" y="294845"/>
                    <a:pt x="527539" y="18816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5" name="Rectangle 264">
            <a:extLst>
              <a:ext uri="{FF2B5EF4-FFF2-40B4-BE49-F238E27FC236}">
                <a16:creationId xmlns:a16="http://schemas.microsoft.com/office/drawing/2014/main" id="{90709D9D-10A7-4EF3-96EC-8B17071E6EBE}"/>
              </a:ext>
            </a:extLst>
          </p:cNvPr>
          <p:cNvSpPr/>
          <p:nvPr/>
        </p:nvSpPr>
        <p:spPr>
          <a:xfrm>
            <a:off x="2876325" y="6028657"/>
            <a:ext cx="25840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Script MT Bold" panose="03040602040607080904" pitchFamily="66" charset="0"/>
                <a:ea typeface="CMU Serif" panose="02000603000000000000" pitchFamily="2" charset="0"/>
                <a:cs typeface="CMU Serif" panose="02000603000000000000" pitchFamily="2" charset="0"/>
              </a:rPr>
              <a:t>E</a:t>
            </a:r>
            <a:endParaRPr lang="en-US" sz="1050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9D886C5F-0779-453F-BCE8-DBABF9554EDA}"/>
              </a:ext>
            </a:extLst>
          </p:cNvPr>
          <p:cNvSpPr txBox="1"/>
          <p:nvPr/>
        </p:nvSpPr>
        <p:spPr>
          <a:xfrm>
            <a:off x="3185004" y="6309693"/>
            <a:ext cx="3016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61D0C13-3340-4505-8CF5-A2B6AF2B0769}"/>
              </a:ext>
            </a:extLst>
          </p:cNvPr>
          <p:cNvGrpSpPr/>
          <p:nvPr/>
        </p:nvGrpSpPr>
        <p:grpSpPr>
          <a:xfrm>
            <a:off x="3471241" y="6489940"/>
            <a:ext cx="95874" cy="430779"/>
            <a:chOff x="6039327" y="7755443"/>
            <a:chExt cx="109403" cy="430779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B66BCE3E-1978-4155-B105-F160A0FEAD59}"/>
                </a:ext>
              </a:extLst>
            </p:cNvPr>
            <p:cNvSpPr/>
            <p:nvPr/>
          </p:nvSpPr>
          <p:spPr>
            <a:xfrm>
              <a:off x="6039327" y="7788598"/>
              <a:ext cx="109403" cy="35068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4" name="Picture 24" descr="https://webstockreview.net/images/electrical-clipart-svg-17.png">
              <a:extLst>
                <a:ext uri="{FF2B5EF4-FFF2-40B4-BE49-F238E27FC236}">
                  <a16:creationId xmlns:a16="http://schemas.microsoft.com/office/drawing/2014/main" id="{B3F7E688-DB78-41E8-958C-12CC4690DA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0759" y="7755443"/>
              <a:ext cx="75466" cy="4307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69" name="TextBox 268">
            <a:extLst>
              <a:ext uri="{FF2B5EF4-FFF2-40B4-BE49-F238E27FC236}">
                <a16:creationId xmlns:a16="http://schemas.microsoft.com/office/drawing/2014/main" id="{18BAF08F-F5BC-47F6-A4B6-D1FE1FFC8315}"/>
              </a:ext>
            </a:extLst>
          </p:cNvPr>
          <p:cNvSpPr txBox="1"/>
          <p:nvPr/>
        </p:nvSpPr>
        <p:spPr>
          <a:xfrm>
            <a:off x="3201459" y="6609642"/>
            <a:ext cx="3016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</a:p>
        </p:txBody>
      </p:sp>
      <p:sp>
        <p:nvSpPr>
          <p:cNvPr id="140" name="AutoShape 34" descr="https://latex.codecogs.com/png.latex?%5Cdpi%7B200%7D%20I%20%3D%20%5Cfrac%7B%5Cmathcal%7BE%7D_0%7D%7BZ%7D">
            <a:extLst>
              <a:ext uri="{FF2B5EF4-FFF2-40B4-BE49-F238E27FC236}">
                <a16:creationId xmlns:a16="http://schemas.microsoft.com/office/drawing/2014/main" id="{ECBAB9E6-8709-48BB-973B-7CFE7BD2F9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3800" y="487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0" name="Picture 36" descr="https://latex.codecogs.com/png.latex?%5Cdpi%7B200%7D%20I%20%3D%20%5Cfrac%7B%5Cmathcal%7BE%7D_0%7D%7BZ%7D">
            <a:extLst>
              <a:ext uri="{FF2B5EF4-FFF2-40B4-BE49-F238E27FC236}">
                <a16:creationId xmlns:a16="http://schemas.microsoft.com/office/drawing/2014/main" id="{A3D03AD0-6703-462C-A7F6-C33CC06D2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565" y="6239669"/>
            <a:ext cx="313333" cy="22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https://latex.codecogs.com/png.latex?%5Cdpi%7B200%7D%20Z%20%3D%20%5Csqrt%7BR%5E2%20&amp;plus;%20%28X_C%20-%20X_L%29%5E2%7D">
            <a:extLst>
              <a:ext uri="{FF2B5EF4-FFF2-40B4-BE49-F238E27FC236}">
                <a16:creationId xmlns:a16="http://schemas.microsoft.com/office/drawing/2014/main" id="{CF4972CF-D9F9-4DAC-AFB1-F575E0BFC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64" y="6774812"/>
            <a:ext cx="1163333" cy="13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 descr="https://latex.codecogs.com/png.latex?%5Cdpi%7B200%7D%20%5Cphi%20%3D%20%5Ctan%5E%7B-1%7D%5Cleft%28%20%5Cfrac%7BX_%5Ctext%7BL%7D%20-%20X_%5Ctext%7BC%7D%7D%7BR%7D%20%5Cright%20%29.">
            <a:extLst>
              <a:ext uri="{FF2B5EF4-FFF2-40B4-BE49-F238E27FC236}">
                <a16:creationId xmlns:a16="http://schemas.microsoft.com/office/drawing/2014/main" id="{EB15AA82-C74C-4FFD-A803-D005C5509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402" y="7320758"/>
            <a:ext cx="1143333" cy="26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https://latex.codecogs.com/png.latex?%5Cdpi%7B200%7D%20%5Comega%20%3D%20%5Cfrac%7B1%7D%7B%5Csqrt%7BLC%7D%7D.">
            <a:extLst>
              <a:ext uri="{FF2B5EF4-FFF2-40B4-BE49-F238E27FC236}">
                <a16:creationId xmlns:a16="http://schemas.microsoft.com/office/drawing/2014/main" id="{BDB6A9A5-6C5C-416C-A26E-039D4632E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401" y="7914250"/>
            <a:ext cx="513333" cy="2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5" name="Rectangle 284">
            <a:extLst>
              <a:ext uri="{FF2B5EF4-FFF2-40B4-BE49-F238E27FC236}">
                <a16:creationId xmlns:a16="http://schemas.microsoft.com/office/drawing/2014/main" id="{79750A3C-F03F-4C54-A469-041D8FBC646E}"/>
              </a:ext>
            </a:extLst>
          </p:cNvPr>
          <p:cNvSpPr/>
          <p:nvPr/>
        </p:nvSpPr>
        <p:spPr>
          <a:xfrm>
            <a:off x="182384" y="8389900"/>
            <a:ext cx="7390452" cy="906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1DDA0B93-B1BA-4960-907D-990D58A378B0}"/>
                  </a:ext>
                </a:extLst>
              </p:cNvPr>
              <p:cNvSpPr txBox="1"/>
              <p:nvPr/>
            </p:nvSpPr>
            <p:spPr>
              <a:xfrm flipH="1">
                <a:off x="179077" y="8381647"/>
                <a:ext cx="3621844" cy="813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latin typeface="Lato" panose="020F0502020204030203" pitchFamily="34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Power    </a:t>
                </a:r>
              </a:p>
              <a:p>
                <a:r>
                  <a:rPr lang="en-US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The emf supplies energy to the circuit at the rate</a:t>
                </a:r>
              </a:p>
              <a:p>
                <a:endParaRPr lang="en-US" sz="9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endParaRPr lang="en-US" sz="9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r>
                  <a:rPr lang="en-US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9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900" b="0" i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rms</m:t>
                        </m:r>
                      </m:sub>
                    </m:sSub>
                    <m:r>
                      <a:rPr lang="en-US" sz="9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9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Serif" panose="02000603000000000000" pitchFamily="2" charset="0"/>
                          </a:rPr>
                          <m:t>ℰ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90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rms</m:t>
                        </m:r>
                      </m:sub>
                    </m:sSub>
                    <m:r>
                      <a:rPr lang="en-US" sz="900" i="1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9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900" i="1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Serif" panose="02000603000000000000" pitchFamily="2" charset="0"/>
                              </a:rPr>
                              <m:t>ℰ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sz="900" i="1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900" i="1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and </a:t>
                </a:r>
                <a:r>
                  <a:rPr lang="el-GR" sz="900" i="1" dirty="0">
                    <a:ea typeface="CMU Serif" panose="02000603000000000000" pitchFamily="2" charset="0"/>
                    <a:cs typeface="CMU Serif" panose="02000603000000000000" pitchFamily="2" charset="0"/>
                  </a:rPr>
                  <a:t>ϕ</a:t>
                </a:r>
                <a:r>
                  <a:rPr lang="en-US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is the phase factor.</a:t>
                </a:r>
              </a:p>
            </p:txBody>
          </p:sp>
        </mc:Choice>
        <mc:Fallback xmlns="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1DDA0B93-B1BA-4960-907D-990D58A37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9077" y="8381647"/>
                <a:ext cx="3621844" cy="813749"/>
              </a:xfrm>
              <a:prstGeom prst="rect">
                <a:avLst/>
              </a:prstGeom>
              <a:blipFill>
                <a:blip r:embed="rId20"/>
                <a:stretch>
                  <a:fillRect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Rectangle 287">
            <a:extLst>
              <a:ext uri="{FF2B5EF4-FFF2-40B4-BE49-F238E27FC236}">
                <a16:creationId xmlns:a16="http://schemas.microsoft.com/office/drawing/2014/main" id="{0A38DE9A-494E-4260-93E1-223910AB0564}"/>
              </a:ext>
            </a:extLst>
          </p:cNvPr>
          <p:cNvSpPr/>
          <p:nvPr/>
        </p:nvSpPr>
        <p:spPr>
          <a:xfrm>
            <a:off x="225861" y="8741555"/>
            <a:ext cx="3493768" cy="2087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70" name="Picture 46" descr="https://latex.codecogs.com/png.latex?%5Cdpi%7B200%7D%20P_%5Ctext%7Bsource%7D%20%3D%20I_%5Ctext%7Brms%7D%20%5Cmathcal%7BE%7D_%5Ctext%7Brms%7D%20%5Ccos%20%5Cphi%2C">
            <a:extLst>
              <a:ext uri="{FF2B5EF4-FFF2-40B4-BE49-F238E27FC236}">
                <a16:creationId xmlns:a16="http://schemas.microsoft.com/office/drawing/2014/main" id="{FD5A92AC-DBDC-48B9-BF45-3E0A3F872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411" y="8794554"/>
            <a:ext cx="1066667" cy="1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" name="TextBox 288">
            <a:extLst>
              <a:ext uri="{FF2B5EF4-FFF2-40B4-BE49-F238E27FC236}">
                <a16:creationId xmlns:a16="http://schemas.microsoft.com/office/drawing/2014/main" id="{7C212060-75E4-4C12-AEFD-C9DC7AA35DA2}"/>
              </a:ext>
            </a:extLst>
          </p:cNvPr>
          <p:cNvSpPr txBox="1"/>
          <p:nvPr/>
        </p:nvSpPr>
        <p:spPr>
          <a:xfrm flipH="1">
            <a:off x="3979571" y="8422967"/>
            <a:ext cx="362184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average 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power dissipated by a resistor is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average power dissipated by a capacitor or inductor is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zero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2088FF86-8C67-4DBC-BA69-9EF6E9ED4520}"/>
              </a:ext>
            </a:extLst>
          </p:cNvPr>
          <p:cNvSpPr/>
          <p:nvPr/>
        </p:nvSpPr>
        <p:spPr>
          <a:xfrm>
            <a:off x="4052213" y="8634074"/>
            <a:ext cx="3465308" cy="3589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72" name="Picture 48" descr="https://latex.codecogs.com/png.latex?%5Cdpi%7B200%7D%20P_%5Ctext%7BR%7D%20%3D%20I%5E2_%5Ctext%7Brms%7D%20R%20%3D%20%5Cfrac%7BV_%5Ctext%7Brms%7D%5E2%7D%7BR%7D%20%3D%20I_%5Ctext%7Brms%7D%20V_%5Ctext%7Brms%7D">
            <a:extLst>
              <a:ext uri="{FF2B5EF4-FFF2-40B4-BE49-F238E27FC236}">
                <a16:creationId xmlns:a16="http://schemas.microsoft.com/office/drawing/2014/main" id="{6BAB698D-AC0A-4195-8278-25AE233ED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085" y="8683562"/>
            <a:ext cx="1413333" cy="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https://latex.codecogs.com/png.latex?%5Cdpi%7B200%7D%20i_%5Ctext%7BC%7D%20%3D%20I_%5Ctext%7BC%7D%20%5Ccos%20%28%5Comega%20t%20&amp;plus;%20%5Ctfrac%7B%5Cpi%7D%7B2%7D%29%2C">
            <a:extLst>
              <a:ext uri="{FF2B5EF4-FFF2-40B4-BE49-F238E27FC236}">
                <a16:creationId xmlns:a16="http://schemas.microsoft.com/office/drawing/2014/main" id="{8EE0B2E9-D5DD-4917-9B8A-E28FC71FC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509" y="3985313"/>
            <a:ext cx="940000" cy="1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9" name="TextBox 198">
            <a:extLst>
              <a:ext uri="{FF2B5EF4-FFF2-40B4-BE49-F238E27FC236}">
                <a16:creationId xmlns:a16="http://schemas.microsoft.com/office/drawing/2014/main" id="{ECE3ACD8-3C7A-4F03-9B99-E3F0CDB9D1F2}"/>
              </a:ext>
            </a:extLst>
          </p:cNvPr>
          <p:cNvSpPr txBox="1"/>
          <p:nvPr/>
        </p:nvSpPr>
        <p:spPr>
          <a:xfrm>
            <a:off x="138687" y="9757352"/>
            <a:ext cx="28248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2E6EE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Joseph D. MacMillan | Licensed under CC BY-NC-SA 4.0.</a:t>
            </a:r>
          </a:p>
        </p:txBody>
      </p:sp>
    </p:spTree>
    <p:extLst>
      <p:ext uri="{BB962C8B-B14F-4D97-AF65-F5344CB8AC3E}">
        <p14:creationId xmlns:p14="http://schemas.microsoft.com/office/powerpoint/2010/main" val="4018716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">
      <a:dk1>
        <a:srgbClr val="000000"/>
      </a:dk1>
      <a:lt1>
        <a:srgbClr val="FFFFFF"/>
      </a:lt1>
      <a:dk2>
        <a:srgbClr val="353958"/>
      </a:dk2>
      <a:lt2>
        <a:srgbClr val="F5F5E5"/>
      </a:lt2>
      <a:accent1>
        <a:srgbClr val="E2E6EE"/>
      </a:accent1>
      <a:accent2>
        <a:srgbClr val="A6B727"/>
      </a:accent2>
      <a:accent3>
        <a:srgbClr val="FECD6A"/>
      </a:accent3>
      <a:accent4>
        <a:srgbClr val="838383"/>
      </a:accent4>
      <a:accent5>
        <a:srgbClr val="FFF6B3"/>
      </a:accent5>
      <a:accent6>
        <a:srgbClr val="E95151"/>
      </a:accent6>
      <a:hlink>
        <a:srgbClr val="F59E00"/>
      </a:hlink>
      <a:folHlink>
        <a:srgbClr val="B2B2B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9161</TotalTime>
  <Words>579</Words>
  <Application>Microsoft Office PowerPoint</Application>
  <PresentationFormat>Custom</PresentationFormat>
  <Paragraphs>111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CMU Serif</vt:lpstr>
      <vt:lpstr>Lato</vt:lpstr>
      <vt:lpstr>Open Sans</vt:lpstr>
      <vt:lpstr>Script MT Bold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MacMillan</dc:creator>
  <cp:lastModifiedBy>Joseph Macmillan</cp:lastModifiedBy>
  <cp:revision>174</cp:revision>
  <cp:lastPrinted>2020-05-21T19:07:50Z</cp:lastPrinted>
  <dcterms:created xsi:type="dcterms:W3CDTF">2020-05-21T00:40:48Z</dcterms:created>
  <dcterms:modified xsi:type="dcterms:W3CDTF">2025-01-13T20:14:54Z</dcterms:modified>
</cp:coreProperties>
</file>