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6CBC"/>
    <a:srgbClr val="5475E0"/>
    <a:srgbClr val="C24242"/>
    <a:srgbClr val="CD6565"/>
    <a:srgbClr val="003E6B"/>
    <a:srgbClr val="FF6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6412" autoAdjust="0"/>
  </p:normalViewPr>
  <p:slideViewPr>
    <p:cSldViewPr snapToGrid="0">
      <p:cViewPr varScale="1">
        <p:scale>
          <a:sx n="78" d="100"/>
          <a:sy n="78" d="100"/>
        </p:scale>
        <p:origin x="27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1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0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9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5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5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8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9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D33F65B-35BB-4AB9-9FF6-4D55B925B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40" y="-3167"/>
            <a:ext cx="7772401" cy="7529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8D2B16-66A1-4B96-BF3A-902A1D3E7632}"/>
              </a:ext>
            </a:extLst>
          </p:cNvPr>
          <p:cNvSpPr/>
          <p:nvPr/>
        </p:nvSpPr>
        <p:spPr>
          <a:xfrm>
            <a:off x="187551" y="926372"/>
            <a:ext cx="3629277" cy="19774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D49A6E-8118-4177-A754-48CAA8F000B1}"/>
              </a:ext>
            </a:extLst>
          </p:cNvPr>
          <p:cNvSpPr/>
          <p:nvPr/>
        </p:nvSpPr>
        <p:spPr>
          <a:xfrm>
            <a:off x="0" y="9459455"/>
            <a:ext cx="7772401" cy="598945"/>
          </a:xfrm>
          <a:prstGeom prst="rect">
            <a:avLst/>
          </a:prstGeom>
          <a:solidFill>
            <a:srgbClr val="3539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9FBA2A-A4DA-45DE-824D-C8A4E3DA7FD4}"/>
              </a:ext>
            </a:extLst>
          </p:cNvPr>
          <p:cNvSpPr txBox="1"/>
          <p:nvPr/>
        </p:nvSpPr>
        <p:spPr>
          <a:xfrm>
            <a:off x="304797" y="9510402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Electricity and Magnetism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B28B72-A2C5-4C2B-AC7F-1587274AAF8B}"/>
              </a:ext>
            </a:extLst>
          </p:cNvPr>
          <p:cNvSpPr txBox="1"/>
          <p:nvPr/>
        </p:nvSpPr>
        <p:spPr>
          <a:xfrm>
            <a:off x="520700" y="288667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Faraday’s Law and Inductance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8A84BC-4389-4375-9601-0B97CCF476AC}"/>
              </a:ext>
            </a:extLst>
          </p:cNvPr>
          <p:cNvSpPr txBox="1"/>
          <p:nvPr/>
        </p:nvSpPr>
        <p:spPr>
          <a:xfrm>
            <a:off x="0" y="45857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2E6EE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F643169C-21EA-48F4-A75F-ED7EDE07C655}"/>
                  </a:ext>
                </a:extLst>
              </p:cNvPr>
              <p:cNvSpPr txBox="1"/>
              <p:nvPr/>
            </p:nvSpPr>
            <p:spPr>
              <a:xfrm flipH="1">
                <a:off x="194979" y="926651"/>
                <a:ext cx="3621844" cy="1977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Lato" panose="020F0502020204030203" pitchFamily="34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Magnetic Flux</a:t>
                </a:r>
              </a:p>
              <a:p>
                <a:endParaRPr lang="en-US" sz="12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Magnetic flux is, loosely speaking, how much </a:t>
                </a: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of the magnetic field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90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accPr>
                      <m:e>
                        <m:r>
                          <a:rPr lang="en-US" sz="9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105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“flows through” a loop of </a:t>
                </a: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area </a:t>
                </a:r>
                <a:r>
                  <a:rPr lang="en-US" sz="9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</a:t>
                </a:r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  Mathematically, the flux is</a:t>
                </a:r>
              </a:p>
              <a:p>
                <a:endParaRPr lang="en-US" sz="900" dirty="0">
                  <a:latin typeface="Times New Roman" panose="02020603050405020304" pitchFamily="18" charset="0"/>
                  <a:ea typeface="CMU Serif" panose="02000603000000000000" pitchFamily="2" charset="0"/>
                  <a:cs typeface="Times New Roman" panose="02020603050405020304" pitchFamily="18" charset="0"/>
                </a:endParaRPr>
              </a:p>
              <a:p>
                <a:endPara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endPara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the magnetic field is uniform, then the flux can be </a:t>
                </a: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written</a:t>
                </a:r>
              </a:p>
              <a:p>
                <a:endPara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endPara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 units of magnetic flux are </a:t>
                </a:r>
                <a:r>
                  <a:rPr lang="en-US" sz="900" dirty="0" err="1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webers</a:t>
                </a:r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1 Wb = 1 Tm</a:t>
                </a:r>
                <a:r>
                  <a:rPr lang="en-US" sz="900" baseline="30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</a:t>
                </a:r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F643169C-21EA-48F4-A75F-ED7EDE07C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4979" y="926651"/>
                <a:ext cx="3621844" cy="1977464"/>
              </a:xfrm>
              <a:prstGeom prst="rect">
                <a:avLst/>
              </a:prstGeom>
              <a:blipFill>
                <a:blip r:embed="rId3"/>
                <a:stretch>
                  <a:fillRect b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95">
            <a:extLst>
              <a:ext uri="{FF2B5EF4-FFF2-40B4-BE49-F238E27FC236}">
                <a16:creationId xmlns:a16="http://schemas.microsoft.com/office/drawing/2014/main" id="{9E524E0F-0B0B-4F1D-80B7-3657EA135B83}"/>
              </a:ext>
            </a:extLst>
          </p:cNvPr>
          <p:cNvSpPr/>
          <p:nvPr/>
        </p:nvSpPr>
        <p:spPr>
          <a:xfrm>
            <a:off x="3947216" y="927784"/>
            <a:ext cx="3629277" cy="1976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249BF7-E2A0-4E17-84E1-26ACDCF1B03B}"/>
              </a:ext>
            </a:extLst>
          </p:cNvPr>
          <p:cNvSpPr txBox="1"/>
          <p:nvPr/>
        </p:nvSpPr>
        <p:spPr>
          <a:xfrm flipH="1">
            <a:off x="3950932" y="926371"/>
            <a:ext cx="3621844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Faraday’s Law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emf is induced in a closed loop (or coil of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turns) if the magnetic flux through the loop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changes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magnetic flux can change either when the loop changes size or rotates (called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motional emf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), or when the magnetic field changes.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direction of the induces emf is given by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Lenz’s law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  The current created by the induced emf has a direction such that the induced magnetic field opposes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change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 flux.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1E63331-A8DB-451B-B368-1F907531A4AB}"/>
              </a:ext>
            </a:extLst>
          </p:cNvPr>
          <p:cNvSpPr/>
          <p:nvPr/>
        </p:nvSpPr>
        <p:spPr>
          <a:xfrm>
            <a:off x="261673" y="1785881"/>
            <a:ext cx="2564234" cy="2907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https://latex.codecogs.com/png.latex?%5Cdpi%7B200%7D%20%5CPhi_m%20%3D%20%5Cint_%5Ctext%7Bloop%7D%20%5Cvec%7BB%7D%20%5Ccdot%20d%5Cvec%7BA%7D">
            <a:extLst>
              <a:ext uri="{FF2B5EF4-FFF2-40B4-BE49-F238E27FC236}">
                <a16:creationId xmlns:a16="http://schemas.microsoft.com/office/drawing/2014/main" id="{1C42064B-B8B1-41E0-A324-A18A4CDFB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63" y="1802272"/>
            <a:ext cx="840000" cy="27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atex.codecogs.com/png.latex?%5Cdpi%7B200%7D%20%5CPhi_m%20%3D%20%5Cvec%7BB%7D%20%5Ccdot%20%5Cvec%7BA%7D.">
            <a:extLst>
              <a:ext uri="{FF2B5EF4-FFF2-40B4-BE49-F238E27FC236}">
                <a16:creationId xmlns:a16="http://schemas.microsoft.com/office/drawing/2014/main" id="{EF6AD232-73D6-4FF0-AF9B-8CCF3BF50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29" y="2459216"/>
            <a:ext cx="566667" cy="12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1F30788-1812-4195-9281-35F936B8D92A}"/>
              </a:ext>
            </a:extLst>
          </p:cNvPr>
          <p:cNvGrpSpPr/>
          <p:nvPr/>
        </p:nvGrpSpPr>
        <p:grpSpPr>
          <a:xfrm>
            <a:off x="2635596" y="1114475"/>
            <a:ext cx="1149892" cy="1177339"/>
            <a:chOff x="1387992" y="3909933"/>
            <a:chExt cx="1149892" cy="1177339"/>
          </a:xfrm>
        </p:grpSpPr>
        <p:sp>
          <p:nvSpPr>
            <p:cNvPr id="5" name="Circle: Hollow 4">
              <a:extLst>
                <a:ext uri="{FF2B5EF4-FFF2-40B4-BE49-F238E27FC236}">
                  <a16:creationId xmlns:a16="http://schemas.microsoft.com/office/drawing/2014/main" id="{DD27EB9B-2FCF-46CF-8173-7FE70412B0A3}"/>
                </a:ext>
              </a:extLst>
            </p:cNvPr>
            <p:cNvSpPr/>
            <p:nvPr/>
          </p:nvSpPr>
          <p:spPr>
            <a:xfrm rot="3843926">
              <a:off x="1387992" y="4092726"/>
              <a:ext cx="994546" cy="994546"/>
            </a:xfrm>
            <a:prstGeom prst="donut">
              <a:avLst>
                <a:gd name="adj" fmla="val 3718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D472D9-BBE8-47DA-8417-9FED8729BF3D}"/>
                </a:ext>
              </a:extLst>
            </p:cNvPr>
            <p:cNvSpPr txBox="1"/>
            <p:nvPr/>
          </p:nvSpPr>
          <p:spPr>
            <a:xfrm flipH="1">
              <a:off x="1861636" y="4643165"/>
              <a:ext cx="2811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B43A1A-55DF-44E6-9968-5BB19D400E03}"/>
                </a:ext>
              </a:extLst>
            </p:cNvPr>
            <p:cNvCxnSpPr/>
            <p:nvPr/>
          </p:nvCxnSpPr>
          <p:spPr>
            <a:xfrm flipV="1">
              <a:off x="1885265" y="4302416"/>
              <a:ext cx="407685" cy="28758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D66E059-4CB8-47BD-B68F-5DE605D77C49}"/>
                    </a:ext>
                  </a:extLst>
                </p:cNvPr>
                <p:cNvSpPr txBox="1"/>
                <p:nvPr/>
              </p:nvSpPr>
              <p:spPr>
                <a:xfrm flipH="1">
                  <a:off x="2256781" y="4255947"/>
                  <a:ext cx="281103" cy="2514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acc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en-US" sz="9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D66E059-4CB8-47BD-B68F-5DE605D77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256781" y="4255947"/>
                  <a:ext cx="281103" cy="251479"/>
                </a:xfrm>
                <a:prstGeom prst="rect">
                  <a:avLst/>
                </a:prstGeom>
                <a:blipFill>
                  <a:blip r:embed="rId6"/>
                  <a:stretch>
                    <a:fillRect t="-12195" r="-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2EF53C6-A93C-4F64-9408-1586759DB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6893" y="4082997"/>
              <a:ext cx="122723" cy="504631"/>
            </a:xfrm>
            <a:prstGeom prst="straightConnector1">
              <a:avLst/>
            </a:prstGeom>
            <a:ln w="9525">
              <a:solidFill>
                <a:srgbClr val="5475E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8614FD0-53AB-488A-BF03-0CD3B9415546}"/>
                    </a:ext>
                  </a:extLst>
                </p:cNvPr>
                <p:cNvSpPr txBox="1"/>
                <p:nvPr/>
              </p:nvSpPr>
              <p:spPr>
                <a:xfrm flipH="1">
                  <a:off x="1948555" y="3909933"/>
                  <a:ext cx="281103" cy="2514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acc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9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8614FD0-53AB-488A-BF03-0CD3B9415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948555" y="3909933"/>
                  <a:ext cx="281103" cy="25147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417C730-E4AE-4000-88B9-6AAB3C0E28F1}"/>
              </a:ext>
            </a:extLst>
          </p:cNvPr>
          <p:cNvSpPr/>
          <p:nvPr/>
        </p:nvSpPr>
        <p:spPr>
          <a:xfrm>
            <a:off x="4031389" y="1593572"/>
            <a:ext cx="3479338" cy="3558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 descr="https://latex.codecogs.com/png.latex?%5Cdpi%7B200%7D%20%5Cmathcal%7BE%7D%20%3D%20N%20%5Cleft%7C%20%5Cfrac%7Bd%5CPhi_m%7D%7Bdt%7D%5Cright%7C">
            <a:extLst>
              <a:ext uri="{FF2B5EF4-FFF2-40B4-BE49-F238E27FC236}">
                <a16:creationId xmlns:a16="http://schemas.microsoft.com/office/drawing/2014/main" id="{0948F83A-1281-4545-8BCE-FD354A9D6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759" y="1631039"/>
            <a:ext cx="620000" cy="27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1055337-9973-4515-A2AE-557F89A0CF02}"/>
              </a:ext>
            </a:extLst>
          </p:cNvPr>
          <p:cNvSpPr/>
          <p:nvPr/>
        </p:nvSpPr>
        <p:spPr>
          <a:xfrm>
            <a:off x="187546" y="3014909"/>
            <a:ext cx="7385230" cy="15089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9FA825-CCCE-4A17-A4C6-2F4FFE56294E}"/>
              </a:ext>
            </a:extLst>
          </p:cNvPr>
          <p:cNvSpPr txBox="1"/>
          <p:nvPr/>
        </p:nvSpPr>
        <p:spPr>
          <a:xfrm flipH="1">
            <a:off x="194979" y="3009180"/>
            <a:ext cx="302673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Induced Electric Fields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Faraday’s law implies that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changing magnetic field induces an electric field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This relationship is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9577B5-7956-454B-8A86-CB749BEB2E58}"/>
              </a:ext>
            </a:extLst>
          </p:cNvPr>
          <p:cNvSpPr/>
          <p:nvPr/>
        </p:nvSpPr>
        <p:spPr>
          <a:xfrm>
            <a:off x="261673" y="3741956"/>
            <a:ext cx="2564234" cy="3331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2" name="Picture 8" descr="https://latex.codecogs.com/png.latex?%5Cdpi%7B200%7D%20%5Coint%20%5Cvec%7BE%7D%20%5Ccdot%20d%20%5Cvec%7Bs%7D%20%3D%20A%20%5Cleft%7C%20%5Cfrac%7BdB%7D%7Bdt%7D%5Cright%7C">
            <a:extLst>
              <a:ext uri="{FF2B5EF4-FFF2-40B4-BE49-F238E27FC236}">
                <a16:creationId xmlns:a16="http://schemas.microsoft.com/office/drawing/2014/main" id="{C0D1F4A5-5552-4F52-B3BC-14099FFBD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790" y="3770929"/>
            <a:ext cx="870000" cy="27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6E3B3F4-29E5-4D3F-93DC-F34EB672FBFF}"/>
              </a:ext>
            </a:extLst>
          </p:cNvPr>
          <p:cNvGrpSpPr/>
          <p:nvPr/>
        </p:nvGrpSpPr>
        <p:grpSpPr>
          <a:xfrm>
            <a:off x="3300804" y="3076858"/>
            <a:ext cx="1347077" cy="1361928"/>
            <a:chOff x="4753429" y="3331295"/>
            <a:chExt cx="1347077" cy="136192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69D3630-3E8A-4DC5-9C75-C4262DA8B3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2973" y="3391091"/>
              <a:ext cx="0" cy="844932"/>
            </a:xfrm>
            <a:prstGeom prst="straightConnector1">
              <a:avLst/>
            </a:prstGeom>
            <a:ln w="12700">
              <a:solidFill>
                <a:srgbClr val="5475E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C887924-D59C-4363-BA99-245551B9D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373" y="3543491"/>
              <a:ext cx="0" cy="844932"/>
            </a:xfrm>
            <a:prstGeom prst="straightConnector1">
              <a:avLst/>
            </a:prstGeom>
            <a:ln w="12700">
              <a:solidFill>
                <a:srgbClr val="5475E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E58C7DF-2DF9-4742-A1C9-C81376E6A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7773" y="3695891"/>
              <a:ext cx="0" cy="844932"/>
            </a:xfrm>
            <a:prstGeom prst="straightConnector1">
              <a:avLst/>
            </a:prstGeom>
            <a:ln w="12700">
              <a:solidFill>
                <a:srgbClr val="5475E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13CE79D-80D3-4DF5-B9E2-24E658330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173" y="3848291"/>
              <a:ext cx="0" cy="844932"/>
            </a:xfrm>
            <a:prstGeom prst="straightConnector1">
              <a:avLst/>
            </a:prstGeom>
            <a:ln w="12700">
              <a:solidFill>
                <a:srgbClr val="5475E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FCCEC1A-483C-451E-8072-BF771E09D640}"/>
                </a:ext>
              </a:extLst>
            </p:cNvPr>
            <p:cNvSpPr/>
            <p:nvPr/>
          </p:nvSpPr>
          <p:spPr>
            <a:xfrm rot="1386687">
              <a:off x="4839644" y="3920074"/>
              <a:ext cx="493288" cy="190691"/>
            </a:xfrm>
            <a:prstGeom prst="ellipse">
              <a:avLst/>
            </a:prstGeom>
            <a:noFill/>
            <a:ln>
              <a:solidFill>
                <a:srgbClr val="986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48A7EF1-E890-4F52-9C49-EFAECC01A41C}"/>
                </a:ext>
              </a:extLst>
            </p:cNvPr>
            <p:cNvSpPr/>
            <p:nvPr/>
          </p:nvSpPr>
          <p:spPr>
            <a:xfrm rot="1386687">
              <a:off x="4933168" y="3967160"/>
              <a:ext cx="306239" cy="85871"/>
            </a:xfrm>
            <a:prstGeom prst="ellipse">
              <a:avLst/>
            </a:prstGeom>
            <a:noFill/>
            <a:ln>
              <a:solidFill>
                <a:srgbClr val="986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1B0BB41-031D-4228-805B-87314364FD4D}"/>
                </a:ext>
              </a:extLst>
            </p:cNvPr>
            <p:cNvSpPr/>
            <p:nvPr/>
          </p:nvSpPr>
          <p:spPr>
            <a:xfrm rot="1386687">
              <a:off x="4753429" y="3873476"/>
              <a:ext cx="665717" cy="294664"/>
            </a:xfrm>
            <a:prstGeom prst="ellipse">
              <a:avLst/>
            </a:prstGeom>
            <a:noFill/>
            <a:ln>
              <a:solidFill>
                <a:srgbClr val="986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96B9A6D-AFD2-4E32-BF61-D76ECBC72D37}"/>
                    </a:ext>
                  </a:extLst>
                </p:cNvPr>
                <p:cNvSpPr txBox="1"/>
                <p:nvPr/>
              </p:nvSpPr>
              <p:spPr>
                <a:xfrm flipH="1">
                  <a:off x="4849269" y="3331295"/>
                  <a:ext cx="1251237" cy="2476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acc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𝐵</m:t>
                          </m:r>
                        </m:e>
                      </m:acc>
                    </m:oMath>
                  </a14:m>
                  <a:r>
                    <a:rPr lang="en-US" sz="900" i="1" dirty="0">
                      <a:solidFill>
                        <a:schemeClr val="tx1"/>
                      </a:solidFill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 </a:t>
                  </a:r>
                  <a:r>
                    <a:rPr lang="en-US" sz="900" dirty="0">
                      <a:solidFill>
                        <a:schemeClr val="tx1"/>
                      </a:solidFill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increasing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96B9A6D-AFD2-4E32-BF61-D76ECBC72D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849269" y="3331295"/>
                  <a:ext cx="1251237" cy="247697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FBCCBE5-28B0-4631-8E86-43E2EA8F2C87}"/>
                    </a:ext>
                  </a:extLst>
                </p:cNvPr>
                <p:cNvSpPr txBox="1"/>
                <p:nvPr/>
              </p:nvSpPr>
              <p:spPr>
                <a:xfrm flipH="1">
                  <a:off x="5347811" y="3991613"/>
                  <a:ext cx="281103" cy="2514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9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Induced</m:t>
                        </m:r>
                        <m:r>
                          <a:rPr lang="en-US" sz="9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sz="9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accPr>
                          <m:e>
                            <m:r>
                              <a:rPr lang="en-US" sz="9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en-US" sz="900" i="1" dirty="0">
                    <a:solidFill>
                      <a:schemeClr val="tx2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FBCCBE5-28B0-4631-8E86-43E2EA8F2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347811" y="3991613"/>
                  <a:ext cx="281103" cy="251479"/>
                </a:xfrm>
                <a:prstGeom prst="rect">
                  <a:avLst/>
                </a:prstGeom>
                <a:blipFill>
                  <a:blip r:embed="rId11"/>
                  <a:stretch>
                    <a:fillRect r="-1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A04B15A-A7C6-4A47-B953-A26CF3CDA9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9964" y="3878989"/>
              <a:ext cx="42836" cy="4274"/>
            </a:xfrm>
            <a:prstGeom prst="straightConnector1">
              <a:avLst/>
            </a:prstGeom>
            <a:ln>
              <a:solidFill>
                <a:srgbClr val="986CBC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CEC8F8F-AD2C-43A9-B1B9-BEDE330F6D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2837" y="3831056"/>
              <a:ext cx="42836" cy="4274"/>
            </a:xfrm>
            <a:prstGeom prst="straightConnector1">
              <a:avLst/>
            </a:prstGeom>
            <a:ln>
              <a:solidFill>
                <a:srgbClr val="986CBC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60E9629-F701-4294-AB92-AB5C865C67B6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 flipH="1" flipV="1">
              <a:off x="5038167" y="3942976"/>
              <a:ext cx="64974" cy="27630"/>
            </a:xfrm>
            <a:prstGeom prst="straightConnector1">
              <a:avLst/>
            </a:prstGeom>
            <a:ln>
              <a:solidFill>
                <a:srgbClr val="986CBC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9F3DDD8-4A20-46B2-87E5-65FF70BDE413}"/>
              </a:ext>
            </a:extLst>
          </p:cNvPr>
          <p:cNvSpPr txBox="1"/>
          <p:nvPr/>
        </p:nvSpPr>
        <p:spPr>
          <a:xfrm flipH="1">
            <a:off x="4640309" y="3056791"/>
            <a:ext cx="291092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This induced electric field is a little different from the one we’re used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It’s this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induced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electric field that drives the current in a loop when the magnetic field changes.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electric field created by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charges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– called a Coulomb electric field – is conservative, but this induced field is not.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field lines are always loops.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This electric field has no associated potential.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1C6859-7ABA-44FC-86D1-FC83C7763423}"/>
              </a:ext>
            </a:extLst>
          </p:cNvPr>
          <p:cNvSpPr/>
          <p:nvPr/>
        </p:nvSpPr>
        <p:spPr>
          <a:xfrm>
            <a:off x="187546" y="4634668"/>
            <a:ext cx="3629277" cy="25512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C604BB-9485-43EB-96ED-9C4E68D1BF4B}"/>
              </a:ext>
            </a:extLst>
          </p:cNvPr>
          <p:cNvSpPr txBox="1"/>
          <p:nvPr/>
        </p:nvSpPr>
        <p:spPr>
          <a:xfrm flipH="1">
            <a:off x="187545" y="4634668"/>
            <a:ext cx="3629277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Inductors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inductor is a circuit element that consists of a coil of wire;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solenoid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an example of an inductor.  An ideal inductor has no resistance in the wire.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inductance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of a coil is defined to be the magnetic flux through the coil divided by the current through the wire: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units of inductance are </a:t>
            </a:r>
            <a:r>
              <a:rPr lang="en-US" sz="9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henries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1 H = 1 Tm</a:t>
            </a:r>
            <a:r>
              <a:rPr lang="en-US" sz="900" baseline="30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/A.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The inductance of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solenoid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of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turns, area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and length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 a circuit, the inductor has a voltage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1080F7-49BE-476F-9265-8C76D5597655}"/>
              </a:ext>
            </a:extLst>
          </p:cNvPr>
          <p:cNvSpPr/>
          <p:nvPr/>
        </p:nvSpPr>
        <p:spPr>
          <a:xfrm>
            <a:off x="261672" y="5746201"/>
            <a:ext cx="3453475" cy="2977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2" descr="https://latex.codecogs.com/png.latex?%5Cdpi%7B200%7D%20L%20%3D%20%5Cfrac%7B%5CPhi_m%7D%7BI%7D">
            <a:extLst>
              <a:ext uri="{FF2B5EF4-FFF2-40B4-BE49-F238E27FC236}">
                <a16:creationId xmlns:a16="http://schemas.microsoft.com/office/drawing/2014/main" id="{92B8DB48-2745-4C6E-857E-816343459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300" y="5782092"/>
            <a:ext cx="380000" cy="22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s://latex.codecogs.com/png.latex?%5Cdpi%7B200%7D%20L_%5Ctext%7Bsolenoid%7D%20%3D%20%5Cfrac%7B%5Cmu_0%20N%5E2%20A%7D%7Bl%7D.">
            <a:extLst>
              <a:ext uri="{FF2B5EF4-FFF2-40B4-BE49-F238E27FC236}">
                <a16:creationId xmlns:a16="http://schemas.microsoft.com/office/drawing/2014/main" id="{13D10BFC-12BD-4859-BC7B-D3040A772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96" y="6397141"/>
            <a:ext cx="873333" cy="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24D1CD23-2995-404D-A5AF-E99E5CE32BC8}"/>
              </a:ext>
            </a:extLst>
          </p:cNvPr>
          <p:cNvSpPr/>
          <p:nvPr/>
        </p:nvSpPr>
        <p:spPr>
          <a:xfrm>
            <a:off x="261671" y="6820962"/>
            <a:ext cx="3453475" cy="2977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8" descr="https://latex.codecogs.com/png.latex?%5Cdpi%7B200%7D%20%5CDelta%20V_L%20%3D%20-L%20%5Cfrac%7BdI%7D%7Bdt%7D.">
            <a:extLst>
              <a:ext uri="{FF2B5EF4-FFF2-40B4-BE49-F238E27FC236}">
                <a16:creationId xmlns:a16="http://schemas.microsoft.com/office/drawing/2014/main" id="{E42FF697-116A-45E0-A08C-BB801E02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582" y="6846010"/>
            <a:ext cx="670000" cy="22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12478B3D-0899-48BF-9166-E3CCF29F6B3A}"/>
              </a:ext>
            </a:extLst>
          </p:cNvPr>
          <p:cNvSpPr/>
          <p:nvPr/>
        </p:nvSpPr>
        <p:spPr>
          <a:xfrm>
            <a:off x="187546" y="7298696"/>
            <a:ext cx="3629277" cy="2059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8A3BA3-D948-487E-8E8D-5A3ED5B40116}"/>
              </a:ext>
            </a:extLst>
          </p:cNvPr>
          <p:cNvSpPr txBox="1"/>
          <p:nvPr/>
        </p:nvSpPr>
        <p:spPr>
          <a:xfrm flipH="1">
            <a:off x="187545" y="7296620"/>
            <a:ext cx="362927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Energy in an Inductor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Inductors store an amount of energy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Like the electric field, the magnetic field stores energy.  The energy density of a magnetic field is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C0D307-00B2-448B-BB21-53C1E0A3E7ED}"/>
              </a:ext>
            </a:extLst>
          </p:cNvPr>
          <p:cNvSpPr/>
          <p:nvPr/>
        </p:nvSpPr>
        <p:spPr>
          <a:xfrm>
            <a:off x="266309" y="7827429"/>
            <a:ext cx="3453475" cy="2977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4" name="Picture 10" descr="https://latex.codecogs.com/png.latex?%5Cdpi%7B200%7D%20U_L%20%3D%20%5Cfrac%7B1%7D%7B2%7D%20L%20I%5E2">
            <a:extLst>
              <a:ext uri="{FF2B5EF4-FFF2-40B4-BE49-F238E27FC236}">
                <a16:creationId xmlns:a16="http://schemas.microsoft.com/office/drawing/2014/main" id="{D6F875D9-A919-4FED-BDAF-54DEA110D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487" y="7859388"/>
            <a:ext cx="513333" cy="22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A6A8CA7-C8B2-410E-9AFC-D890FCE23247}"/>
              </a:ext>
            </a:extLst>
          </p:cNvPr>
          <p:cNvSpPr/>
          <p:nvPr/>
        </p:nvSpPr>
        <p:spPr>
          <a:xfrm>
            <a:off x="266309" y="8526862"/>
            <a:ext cx="3453475" cy="2977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6" name="Picture 12" descr="https://latex.codecogs.com/png.latex?%5Cdpi%7B200%7D%20u_B%20%3D%20%5Cfrac%7B1%7D%7B2%5Cmu_0%7D%20B%5E2.">
            <a:extLst>
              <a:ext uri="{FF2B5EF4-FFF2-40B4-BE49-F238E27FC236}">
                <a16:creationId xmlns:a16="http://schemas.microsoft.com/office/drawing/2014/main" id="{12C3B59F-920C-43D2-BC1A-523ECD510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86" y="8551534"/>
            <a:ext cx="613333" cy="24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C851ECB-3CEF-497E-BEC8-637DF00242E8}"/>
              </a:ext>
            </a:extLst>
          </p:cNvPr>
          <p:cNvSpPr/>
          <p:nvPr/>
        </p:nvSpPr>
        <p:spPr>
          <a:xfrm>
            <a:off x="3947217" y="4634668"/>
            <a:ext cx="3629277" cy="25512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90C140-5B88-464D-A3A8-F9547D71AE38}"/>
              </a:ext>
            </a:extLst>
          </p:cNvPr>
          <p:cNvSpPr txBox="1"/>
          <p:nvPr/>
        </p:nvSpPr>
        <p:spPr>
          <a:xfrm flipH="1">
            <a:off x="3947215" y="4634668"/>
            <a:ext cx="2520543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LC</a:t>
            </a:r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 Circuits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circuit consisting of an inductor (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and a capacitor (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is an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electric oscillator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with frequency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/2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π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where the angular frequency is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charge on the capacitor oscillates according to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and the current through the inductor as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max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l-GR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91C0B3B-2FD4-482A-BB06-B17B4F70D117}"/>
              </a:ext>
            </a:extLst>
          </p:cNvPr>
          <p:cNvSpPr/>
          <p:nvPr/>
        </p:nvSpPr>
        <p:spPr>
          <a:xfrm>
            <a:off x="4034020" y="5606257"/>
            <a:ext cx="2285611" cy="337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40" name="Picture 16" descr="https://latex.codecogs.com/png.latex?%5Cdpi%7B200%7D%20%5Comega%20%3D%20%5Csqrt%7B%5Cfrac%7B1%7D%7BLC%7D%7D">
            <a:extLst>
              <a:ext uri="{FF2B5EF4-FFF2-40B4-BE49-F238E27FC236}">
                <a16:creationId xmlns:a16="http://schemas.microsoft.com/office/drawing/2014/main" id="{EFBB316F-383A-4839-85CD-48F17DF01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390" y="5641567"/>
            <a:ext cx="510000" cy="26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s://latex.codecogs.com/png.latex?%5Cdpi%7B200%7D%20Q%28t%29%20%3D%20Q_0%20%5Ccos%20%5Comega%20t%2C">
            <a:extLst>
              <a:ext uri="{FF2B5EF4-FFF2-40B4-BE49-F238E27FC236}">
                <a16:creationId xmlns:a16="http://schemas.microsoft.com/office/drawing/2014/main" id="{E38F57F0-BF3D-4D1A-A559-D39FF76C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491" y="6315915"/>
            <a:ext cx="796667" cy="1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latex.codecogs.com/png.latex?%5Cdpi%7B200%7D%20I%28t%29%20%3D%20I_%5Ctext%7Bmax%7D%20%5Csin%5Comega%20t%2C">
            <a:extLst>
              <a:ext uri="{FF2B5EF4-FFF2-40B4-BE49-F238E27FC236}">
                <a16:creationId xmlns:a16="http://schemas.microsoft.com/office/drawing/2014/main" id="{66E4FEDC-9E3D-46A0-9F0A-F1183619B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157" y="6756048"/>
            <a:ext cx="823333" cy="1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CEFDDD7-14D7-48D3-A1AF-295823298871}"/>
              </a:ext>
            </a:extLst>
          </p:cNvPr>
          <p:cNvGrpSpPr/>
          <p:nvPr/>
        </p:nvGrpSpPr>
        <p:grpSpPr>
          <a:xfrm>
            <a:off x="6475185" y="5357761"/>
            <a:ext cx="999895" cy="1104972"/>
            <a:chOff x="4732620" y="7400027"/>
            <a:chExt cx="1140996" cy="110497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11E4C8A-76FC-47FB-BA4F-D53C2731C969}"/>
                </a:ext>
              </a:extLst>
            </p:cNvPr>
            <p:cNvSpPr/>
            <p:nvPr/>
          </p:nvSpPr>
          <p:spPr>
            <a:xfrm>
              <a:off x="4865436" y="7400027"/>
              <a:ext cx="911909" cy="110497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6A99426-FA68-4810-9CC3-2F42B809A7BE}"/>
                </a:ext>
              </a:extLst>
            </p:cNvPr>
            <p:cNvGrpSpPr/>
            <p:nvPr/>
          </p:nvGrpSpPr>
          <p:grpSpPr>
            <a:xfrm>
              <a:off x="4732620" y="7884824"/>
              <a:ext cx="258094" cy="93540"/>
              <a:chOff x="6011613" y="8416520"/>
              <a:chExt cx="258094" cy="49797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BB1BA44-7225-40CD-96BD-8BA5AECCBC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1613" y="8416520"/>
                <a:ext cx="258094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93E8FD98-213F-49DA-B2A9-61AE0E9324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7770" y="8466317"/>
                <a:ext cx="25193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90EAE1C-C9ED-4969-9198-D3AFAC9F88DD}"/>
                  </a:ext>
                </a:extLst>
              </p:cNvPr>
              <p:cNvSpPr/>
              <p:nvPr/>
            </p:nvSpPr>
            <p:spPr>
              <a:xfrm>
                <a:off x="6011613" y="8419064"/>
                <a:ext cx="258094" cy="4571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C3BFB22-457D-409A-B3A0-4D8644A97FFA}"/>
                </a:ext>
              </a:extLst>
            </p:cNvPr>
            <p:cNvSpPr txBox="1"/>
            <p:nvPr/>
          </p:nvSpPr>
          <p:spPr>
            <a:xfrm>
              <a:off x="4861667" y="7667157"/>
              <a:ext cx="3678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5E932B6-E68A-4E0B-B1F2-0951441BDE85}"/>
                </a:ext>
              </a:extLst>
            </p:cNvPr>
            <p:cNvGrpSpPr/>
            <p:nvPr/>
          </p:nvGrpSpPr>
          <p:grpSpPr>
            <a:xfrm>
              <a:off x="5706056" y="7731972"/>
              <a:ext cx="109403" cy="430779"/>
              <a:chOff x="6039327" y="7755443"/>
              <a:chExt cx="109403" cy="430779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38FDBC37-6803-4D0E-B5A1-6CD3A1459283}"/>
                  </a:ext>
                </a:extLst>
              </p:cNvPr>
              <p:cNvSpPr/>
              <p:nvPr/>
            </p:nvSpPr>
            <p:spPr>
              <a:xfrm>
                <a:off x="6039327" y="7788598"/>
                <a:ext cx="109403" cy="3506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48" name="Picture 24" descr="https://webstockreview.net/images/electrical-clipart-svg-17.png">
                <a:extLst>
                  <a:ext uri="{FF2B5EF4-FFF2-40B4-BE49-F238E27FC236}">
                    <a16:creationId xmlns:a16="http://schemas.microsoft.com/office/drawing/2014/main" id="{03E44450-46CA-4FAC-8774-677E4B9FB4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0759" y="7755443"/>
                <a:ext cx="75466" cy="430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9BFA962-4691-4615-8AD2-5F9072D0CC05}"/>
                </a:ext>
              </a:extLst>
            </p:cNvPr>
            <p:cNvSpPr txBox="1"/>
            <p:nvPr/>
          </p:nvSpPr>
          <p:spPr>
            <a:xfrm>
              <a:off x="5505758" y="7669051"/>
              <a:ext cx="3678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83B44029-FC04-4530-B963-E87C9B5960B1}"/>
              </a:ext>
            </a:extLst>
          </p:cNvPr>
          <p:cNvSpPr/>
          <p:nvPr/>
        </p:nvSpPr>
        <p:spPr>
          <a:xfrm>
            <a:off x="3947217" y="7296621"/>
            <a:ext cx="3629277" cy="20345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6742A8-785B-4867-B855-CBEA9C6EA972}"/>
              </a:ext>
            </a:extLst>
          </p:cNvPr>
          <p:cNvSpPr txBox="1"/>
          <p:nvPr/>
        </p:nvSpPr>
        <p:spPr>
          <a:xfrm flipH="1">
            <a:off x="3947214" y="7296620"/>
            <a:ext cx="3637639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LR</a:t>
            </a:r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 Circuits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current in an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circuit decays exponentially with time: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time constant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τ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00744F5-812E-49C4-9CF4-EAA3E85065BC}"/>
              </a:ext>
            </a:extLst>
          </p:cNvPr>
          <p:cNvSpPr/>
          <p:nvPr/>
        </p:nvSpPr>
        <p:spPr>
          <a:xfrm>
            <a:off x="4058895" y="7878470"/>
            <a:ext cx="3428600" cy="235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12FC782-7F5F-49D4-B390-92BC71292DBE}"/>
              </a:ext>
            </a:extLst>
          </p:cNvPr>
          <p:cNvGrpSpPr/>
          <p:nvPr/>
        </p:nvGrpSpPr>
        <p:grpSpPr>
          <a:xfrm>
            <a:off x="5155089" y="8530657"/>
            <a:ext cx="1175113" cy="648158"/>
            <a:chOff x="4865436" y="7400027"/>
            <a:chExt cx="1008180" cy="1104972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2DCA7E1-F393-4B5F-B612-3BE2FF9B41D0}"/>
                </a:ext>
              </a:extLst>
            </p:cNvPr>
            <p:cNvSpPr/>
            <p:nvPr/>
          </p:nvSpPr>
          <p:spPr>
            <a:xfrm>
              <a:off x="4865436" y="7400027"/>
              <a:ext cx="911909" cy="110497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2789FFD-4665-4DAD-9634-3C5C000EAEDF}"/>
                </a:ext>
              </a:extLst>
            </p:cNvPr>
            <p:cNvSpPr txBox="1"/>
            <p:nvPr/>
          </p:nvSpPr>
          <p:spPr>
            <a:xfrm>
              <a:off x="4918066" y="7664550"/>
              <a:ext cx="367858" cy="393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DE242732-0EA7-42C5-B989-262552EF3077}"/>
                </a:ext>
              </a:extLst>
            </p:cNvPr>
            <p:cNvGrpSpPr/>
            <p:nvPr/>
          </p:nvGrpSpPr>
          <p:grpSpPr>
            <a:xfrm>
              <a:off x="5706056" y="7731972"/>
              <a:ext cx="109403" cy="430779"/>
              <a:chOff x="6039327" y="7755443"/>
              <a:chExt cx="109403" cy="43077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56215F91-C1AB-43B2-80C6-312A20D03EC7}"/>
                  </a:ext>
                </a:extLst>
              </p:cNvPr>
              <p:cNvSpPr/>
              <p:nvPr/>
            </p:nvSpPr>
            <p:spPr>
              <a:xfrm>
                <a:off x="6039327" y="7788598"/>
                <a:ext cx="109403" cy="3506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3" name="Picture 24" descr="https://webstockreview.net/images/electrical-clipart-svg-17.png">
                <a:extLst>
                  <a:ext uri="{FF2B5EF4-FFF2-40B4-BE49-F238E27FC236}">
                    <a16:creationId xmlns:a16="http://schemas.microsoft.com/office/drawing/2014/main" id="{2B68A28E-A88D-4E8A-AE21-BE4F3EACE3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0759" y="7755443"/>
                <a:ext cx="75466" cy="430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1A4E0F6-78F2-4A1E-8901-BB9EA96F542A}"/>
                </a:ext>
              </a:extLst>
            </p:cNvPr>
            <p:cNvSpPr txBox="1"/>
            <p:nvPr/>
          </p:nvSpPr>
          <p:spPr>
            <a:xfrm>
              <a:off x="5505758" y="7669051"/>
              <a:ext cx="3678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</a:p>
          </p:txBody>
        </p:sp>
      </p:grpSp>
      <p:pic>
        <p:nvPicPr>
          <p:cNvPr id="1050" name="Picture 26" descr="https://latex.codecogs.com/png.latex?%5Cdpi%7B200%7D%20I%28t%29%20%3D%20I_0%20e%5E%7B-t/%5Ctau%7D">
            <a:extLst>
              <a:ext uri="{FF2B5EF4-FFF2-40B4-BE49-F238E27FC236}">
                <a16:creationId xmlns:a16="http://schemas.microsoft.com/office/drawing/2014/main" id="{6C6E2E58-10D6-42BE-9C8A-82D95E403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257" y="7927562"/>
            <a:ext cx="633333" cy="1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0FCE3D3-F78C-4DF1-96E8-9A45D9ED18F4}"/>
              </a:ext>
            </a:extLst>
          </p:cNvPr>
          <p:cNvGrpSpPr/>
          <p:nvPr/>
        </p:nvGrpSpPr>
        <p:grpSpPr>
          <a:xfrm rot="5400000">
            <a:off x="4991381" y="8752379"/>
            <a:ext cx="331985" cy="127517"/>
            <a:chOff x="4077841" y="7488950"/>
            <a:chExt cx="601735" cy="164521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A8C9C32-1DD9-4DC2-B1EB-D16D50DCF8BE}"/>
                </a:ext>
              </a:extLst>
            </p:cNvPr>
            <p:cNvSpPr/>
            <p:nvPr/>
          </p:nvSpPr>
          <p:spPr>
            <a:xfrm>
              <a:off x="4077841" y="7488950"/>
              <a:ext cx="601735" cy="164521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ADEA069-F955-43D2-ADB6-BB53E3BA32A5}"/>
                </a:ext>
              </a:extLst>
            </p:cNvPr>
            <p:cNvGrpSpPr/>
            <p:nvPr/>
          </p:nvGrpSpPr>
          <p:grpSpPr>
            <a:xfrm>
              <a:off x="4077841" y="7493587"/>
              <a:ext cx="601735" cy="155212"/>
              <a:chOff x="4409241" y="7432471"/>
              <a:chExt cx="2635720" cy="676105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D3E2C8AB-4705-431D-8C1F-70631358FAB5}"/>
                  </a:ext>
                </a:extLst>
              </p:cNvPr>
              <p:cNvCxnSpPr/>
              <p:nvPr/>
            </p:nvCxnSpPr>
            <p:spPr>
              <a:xfrm flipV="1">
                <a:off x="4409241" y="7456395"/>
                <a:ext cx="215153" cy="35634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073F22ED-5021-40D4-A182-7E9CB8C46EFB}"/>
                  </a:ext>
                </a:extLst>
              </p:cNvPr>
              <p:cNvCxnSpPr/>
              <p:nvPr/>
            </p:nvCxnSpPr>
            <p:spPr>
              <a:xfrm>
                <a:off x="4624394" y="7456395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1AB133D-C6E1-48AE-8D85-4ECE102D06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794" y="7455859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3F0C7ED8-1141-4A3E-B779-1E934BF40997}"/>
                  </a:ext>
                </a:extLst>
              </p:cNvPr>
              <p:cNvCxnSpPr/>
              <p:nvPr/>
            </p:nvCxnSpPr>
            <p:spPr>
              <a:xfrm>
                <a:off x="5259194" y="7448063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A957289E-5679-4C36-AE40-C9ABF0D2CE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594" y="7440267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D7FED67A-53F1-47FA-AD38-EC11097416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07732" y="7439195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17234ED7-D1A8-45B7-8C80-CF18D86D8F17}"/>
                  </a:ext>
                </a:extLst>
              </p:cNvPr>
              <p:cNvCxnSpPr/>
              <p:nvPr/>
            </p:nvCxnSpPr>
            <p:spPr>
              <a:xfrm>
                <a:off x="5885726" y="7432471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E5DB80EB-BE42-4FC4-9B86-3E93ABF095DA}"/>
                  </a:ext>
                </a:extLst>
              </p:cNvPr>
              <p:cNvCxnSpPr/>
              <p:nvPr/>
            </p:nvCxnSpPr>
            <p:spPr>
              <a:xfrm>
                <a:off x="6525132" y="7450497"/>
                <a:ext cx="317400" cy="6521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6757C6E0-56B7-49F3-BCE9-AA456043308A}"/>
                  </a:ext>
                </a:extLst>
              </p:cNvPr>
              <p:cNvCxnSpPr/>
              <p:nvPr/>
            </p:nvCxnSpPr>
            <p:spPr>
              <a:xfrm flipV="1">
                <a:off x="6829808" y="7737174"/>
                <a:ext cx="215153" cy="35634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45BC6A2-47BD-4907-927E-D4C4DBCB817D}"/>
              </a:ext>
            </a:extLst>
          </p:cNvPr>
          <p:cNvSpPr txBox="1"/>
          <p:nvPr/>
        </p:nvSpPr>
        <p:spPr>
          <a:xfrm>
            <a:off x="138687" y="9757352"/>
            <a:ext cx="28248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2E6EE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Joseph D. MacMillan | Licensed under CC BY-NC-SA 4.0.</a:t>
            </a:r>
          </a:p>
        </p:txBody>
      </p:sp>
    </p:spTree>
    <p:extLst>
      <p:ext uri="{BB962C8B-B14F-4D97-AF65-F5344CB8AC3E}">
        <p14:creationId xmlns:p14="http://schemas.microsoft.com/office/powerpoint/2010/main" val="401871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353958"/>
      </a:dk2>
      <a:lt2>
        <a:srgbClr val="F5F5E5"/>
      </a:lt2>
      <a:accent1>
        <a:srgbClr val="E2E6EE"/>
      </a:accent1>
      <a:accent2>
        <a:srgbClr val="A6B727"/>
      </a:accent2>
      <a:accent3>
        <a:srgbClr val="FECD6A"/>
      </a:accent3>
      <a:accent4>
        <a:srgbClr val="838383"/>
      </a:accent4>
      <a:accent5>
        <a:srgbClr val="FFF6B3"/>
      </a:accent5>
      <a:accent6>
        <a:srgbClr val="E95151"/>
      </a:accent6>
      <a:hlink>
        <a:srgbClr val="F59E00"/>
      </a:hlink>
      <a:folHlink>
        <a:srgbClr val="B2B2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8008</TotalTime>
  <Words>478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CMU Serif</vt:lpstr>
      <vt:lpstr>Lato</vt:lpstr>
      <vt:lpstr>Open Sans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MacMillan</dc:creator>
  <cp:lastModifiedBy>Joseph Macmillan</cp:lastModifiedBy>
  <cp:revision>155</cp:revision>
  <cp:lastPrinted>2020-05-21T19:07:50Z</cp:lastPrinted>
  <dcterms:created xsi:type="dcterms:W3CDTF">2020-05-21T00:40:48Z</dcterms:created>
  <dcterms:modified xsi:type="dcterms:W3CDTF">2025-01-13T20:14:16Z</dcterms:modified>
</cp:coreProperties>
</file>